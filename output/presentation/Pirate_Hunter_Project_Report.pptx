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55b8de80c4781" /><Relationship Type="http://schemas.openxmlformats.org/officeDocument/2006/relationships/extended-properties" Target="/docProps/app.xml" Id="Ra1db78d169fa444d" /><Relationship Type="http://schemas.openxmlformats.org/officeDocument/2006/relationships/officeDocument" Target="/ppt/presentation.xml" Id="R068211949bf94d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13906464cd460d"/>
  </p:sldMasterIdLst>
  <p:notesMasterIdLst>
    <p:notesMasterId xmlns:r="http://schemas.openxmlformats.org/officeDocument/2006/relationships" r:id="Rec86ae063f5e4108"/>
  </p:notesMasterIdLst>
  <p:sldIdLst>
    <p:sldId xmlns:r="http://schemas.openxmlformats.org/officeDocument/2006/relationships" id="256" r:id="R185f4a03c66a4af7"/>
    <p:sldId xmlns:r="http://schemas.openxmlformats.org/officeDocument/2006/relationships" id="257" r:id="R91fa9ca20c9247ad"/>
    <p:sldId xmlns:r="http://schemas.openxmlformats.org/officeDocument/2006/relationships" id="258" r:id="R6385be75f0854371"/>
    <p:sldId xmlns:r="http://schemas.openxmlformats.org/officeDocument/2006/relationships" id="259" r:id="R51809466473a4021"/>
    <p:sldId xmlns:r="http://schemas.openxmlformats.org/officeDocument/2006/relationships" id="260" r:id="R2bc480155b784181"/>
    <p:sldId xmlns:r="http://schemas.openxmlformats.org/officeDocument/2006/relationships" id="261" r:id="Rc96f91f74b59416d"/>
    <p:sldId xmlns:r="http://schemas.openxmlformats.org/officeDocument/2006/relationships" id="262" r:id="Rdbcfaba36ae24c10"/>
    <p:sldId xmlns:r="http://schemas.openxmlformats.org/officeDocument/2006/relationships" id="263" r:id="R0ae3ee0faa474f65"/>
    <p:sldId xmlns:r="http://schemas.openxmlformats.org/officeDocument/2006/relationships" id="264" r:id="R51d186c701ff4563"/>
    <p:sldId xmlns:r="http://schemas.openxmlformats.org/officeDocument/2006/relationships" id="265" r:id="R4fa5525307b64d9f"/>
    <p:sldId xmlns:r="http://schemas.openxmlformats.org/officeDocument/2006/relationships" id="266" r:id="R42682e997e5c4d21"/>
    <p:sldId xmlns:r="http://schemas.openxmlformats.org/officeDocument/2006/relationships" id="267" r:id="Reaedcdf6251446a8"/>
    <p:sldId xmlns:r="http://schemas.openxmlformats.org/officeDocument/2006/relationships" id="268" r:id="R4c6f722c4f2f4523"/>
    <p:sldId xmlns:r="http://schemas.openxmlformats.org/officeDocument/2006/relationships" id="269" r:id="Rc60bd20264ad42c3"/>
    <p:sldId xmlns:r="http://schemas.openxmlformats.org/officeDocument/2006/relationships" id="270" r:id="Rbf11a25da25e494c"/>
    <p:sldId xmlns:r="http://schemas.openxmlformats.org/officeDocument/2006/relationships" id="271" r:id="R801db17d155f461a"/>
    <p:sldId xmlns:r="http://schemas.openxmlformats.org/officeDocument/2006/relationships" id="272" r:id="R11409acbc8c244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a1afdbbd704922" /><Relationship Type="http://schemas.openxmlformats.org/officeDocument/2006/relationships/slideMaster" Target="/ppt/slideMasters/slideMaster1.xml" Id="R9c13906464cd460d" /><Relationship Type="http://schemas.openxmlformats.org/officeDocument/2006/relationships/notesMaster" Target="/ppt/notesMasters/notesMaster1.xml" Id="Rec86ae063f5e4108" /><Relationship Type="http://schemas.openxmlformats.org/officeDocument/2006/relationships/presProps" Target="/ppt/presProps.xml" Id="R12e014c859424363" /><Relationship Type="http://schemas.openxmlformats.org/officeDocument/2006/relationships/tableStyles" Target="/ppt/tableStyles.xml" Id="R94096e4bfc7e4a97" /><Relationship Type="http://schemas.openxmlformats.org/officeDocument/2006/relationships/slide" Target="/ppt/slides/slide1.xml" Id="R185f4a03c66a4af7" /><Relationship Type="http://schemas.openxmlformats.org/officeDocument/2006/relationships/slide" Target="/ppt/slides/slide2.xml" Id="R91fa9ca20c9247ad" /><Relationship Type="http://schemas.openxmlformats.org/officeDocument/2006/relationships/slide" Target="/ppt/slides/slide3.xml" Id="R6385be75f0854371" /><Relationship Type="http://schemas.openxmlformats.org/officeDocument/2006/relationships/slide" Target="/ppt/slides/slide4.xml" Id="R51809466473a4021" /><Relationship Type="http://schemas.openxmlformats.org/officeDocument/2006/relationships/slide" Target="/ppt/slides/slide5.xml" Id="R2bc480155b784181" /><Relationship Type="http://schemas.openxmlformats.org/officeDocument/2006/relationships/slide" Target="/ppt/slides/slide6.xml" Id="Rc96f91f74b59416d" /><Relationship Type="http://schemas.openxmlformats.org/officeDocument/2006/relationships/slide" Target="/ppt/slides/slide7.xml" Id="Rdbcfaba36ae24c10" /><Relationship Type="http://schemas.openxmlformats.org/officeDocument/2006/relationships/slide" Target="/ppt/slides/slide8.xml" Id="R0ae3ee0faa474f65" /><Relationship Type="http://schemas.openxmlformats.org/officeDocument/2006/relationships/slide" Target="/ppt/slides/slide9.xml" Id="R51d186c701ff4563" /><Relationship Type="http://schemas.openxmlformats.org/officeDocument/2006/relationships/slide" Target="/ppt/slides/slide10.xml" Id="R4fa5525307b64d9f" /><Relationship Type="http://schemas.openxmlformats.org/officeDocument/2006/relationships/slide" Target="/ppt/slides/slide11.xml" Id="R42682e997e5c4d21" /><Relationship Type="http://schemas.openxmlformats.org/officeDocument/2006/relationships/slide" Target="/ppt/slides/slide12.xml" Id="Reaedcdf6251446a8" /><Relationship Type="http://schemas.openxmlformats.org/officeDocument/2006/relationships/slide" Target="/ppt/slides/slide13.xml" Id="R4c6f722c4f2f4523" /><Relationship Type="http://schemas.openxmlformats.org/officeDocument/2006/relationships/slide" Target="/ppt/slides/slide14.xml" Id="Rc60bd20264ad42c3" /><Relationship Type="http://schemas.openxmlformats.org/officeDocument/2006/relationships/slide" Target="/ppt/slides/slide15.xml" Id="Rbf11a25da25e494c" /><Relationship Type="http://schemas.openxmlformats.org/officeDocument/2006/relationships/slide" Target="/ppt/slides/slide16.xml" Id="R801db17d155f461a" /><Relationship Type="http://schemas.openxmlformats.org/officeDocument/2006/relationships/slide" Target="/ppt/slides/slide17.xml" Id="R11409acbc8c244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33228b50314e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0f0405450c447c" /><Relationship Type="http://schemas.openxmlformats.org/officeDocument/2006/relationships/notesMaster" Target="/ppt/notesMasters/notesMaster1.xml" Id="R82707e868bc845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f45176d4914ce4" /><Relationship Type="http://schemas.openxmlformats.org/officeDocument/2006/relationships/notesMaster" Target="/ppt/notesMasters/notesMaster1.xml" Id="Rfe42c8580ec74f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38ecb76744437e" /><Relationship Type="http://schemas.openxmlformats.org/officeDocument/2006/relationships/notesMaster" Target="/ppt/notesMasters/notesMaster1.xml" Id="R06ecac8be6d147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c9d0022771416a" /><Relationship Type="http://schemas.openxmlformats.org/officeDocument/2006/relationships/notesMaster" Target="/ppt/notesMasters/notesMaster1.xml" Id="Rf09c336d37b244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a4ad4a15db4dc2" /><Relationship Type="http://schemas.openxmlformats.org/officeDocument/2006/relationships/notesMaster" Target="/ppt/notesMasters/notesMaster1.xml" Id="R3f308f86d3a944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118bfda7724c0b" /><Relationship Type="http://schemas.openxmlformats.org/officeDocument/2006/relationships/notesMaster" Target="/ppt/notesMasters/notesMaster1.xml" Id="R85cd6642523142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23b0c9331d4239" /><Relationship Type="http://schemas.openxmlformats.org/officeDocument/2006/relationships/notesMaster" Target="/ppt/notesMasters/notesMaster1.xml" Id="R24ca59e9079742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8e61f6c3384ec5" /><Relationship Type="http://schemas.openxmlformats.org/officeDocument/2006/relationships/notesMaster" Target="/ppt/notesMasters/notesMaster1.xml" Id="Raec84b71c4af4b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4b0bd739fc4bc7" /><Relationship Type="http://schemas.openxmlformats.org/officeDocument/2006/relationships/notesMaster" Target="/ppt/notesMasters/notesMaster1.xml" Id="R9fa9d17a1f2b40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c52e8ea0c54f32" /><Relationship Type="http://schemas.openxmlformats.org/officeDocument/2006/relationships/notesMaster" Target="/ppt/notesMasters/notesMaster1.xml" Id="R19b6c47631164a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b12f6fc09a4185" /><Relationship Type="http://schemas.openxmlformats.org/officeDocument/2006/relationships/notesMaster" Target="/ppt/notesMasters/notesMaster1.xml" Id="R98d7e4c1b79c48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772073cee74b5b" /><Relationship Type="http://schemas.openxmlformats.org/officeDocument/2006/relationships/notesMaster" Target="/ppt/notesMasters/notesMaster1.xml" Id="Rd6b392cd2b3c42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56beb77420429f" /><Relationship Type="http://schemas.openxmlformats.org/officeDocument/2006/relationships/notesMaster" Target="/ppt/notesMasters/notesMaster1.xml" Id="Rc304b2df8e5642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8c9fc02cd447ec" /><Relationship Type="http://schemas.openxmlformats.org/officeDocument/2006/relationships/notesMaster" Target="/ppt/notesMasters/notesMaster1.xml" Id="R1c13eb4b45e642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d3b2d0edea416c" /><Relationship Type="http://schemas.openxmlformats.org/officeDocument/2006/relationships/notesMaster" Target="/ppt/notesMasters/notesMaster1.xml" Id="Rdcbfc5a49fa545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4670be9e014cc0" /><Relationship Type="http://schemas.openxmlformats.org/officeDocument/2006/relationships/notesMaster" Target="/ppt/notesMasters/notesMaster1.xml" Id="Rb6e0d8e2d72e47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6c8b9b0dcd49bc" /><Relationship Type="http://schemas.openxmlformats.org/officeDocument/2006/relationships/notesMaster" Target="/ppt/notesMasters/notesMaster1.xml" Id="Rccee6dc5d97946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report for UE24AM342AA5. Sources: README.md, docs/REPORT.md and the supplied MiniProject_10_Food_Label_Compliance.pdf. The demonstration uses a deterministic planner fixture, not a live external LLM.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identities follow the user correction and supplied roster. No historical individual contribution claims are assigned. Source: docs/TEAM.md.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docs/REPORT.md sections 1 and 2, docs/REQUIREMENTS.md. The route clear-for-print is retained only to meet the assignment interface. Every response has print_authorized:false.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labelguard/api.py, store.py, agents.py and worker.py. See docs/ARCHITECTURE.md for the deployment diagram. SQLite WAL provides the durable leased queue.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labelguard/agents.py, provider.py, rules.py, prompts/v1.md, prompts/v2.md and prompts/verifier-v1.md. Research uses an HTTP planner. The verifier is deterministic and independent of the planner.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 URLs and SHA256 hashes are in data/sources.json. Labelling: https://www.fssai.gov.in/upload/uploadfiles/files/Comp_Labelling%20Display_Version%20VIII_09_09_2025.pdf . Claims: https://www.fssai.gov.in/upload/uploadfiles/files/Compendium_Advertising_Claims_Regulations_14_12_2022.pdf . Amendment: https://www.fssai.gov.in/docs/food-law/regulations/amendments/labelling-display/Notification%20dt%2024_03_2026_NRC.pdf . Gazette notifications prevail over compendia.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docs/DEMO.md, docs/REPORT.md section 2, data/clause_map.json and examples/valid-protein.json. Citations: LD 5(3)(b), pp10–11; AC 5(3), p4; AC Schedule I item11, p9; AC 2(1)(n), p2. The 54g/day benchmark is an illustrative supplied, reviewer-confirmed value, not a universal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labelguard/models.py, guardrails.py, config.py, provider.py and docs/CONTRACTS.md. Injection/toxicity screening is pattern based and limited. It does not establish complete resistance to adversarial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current viewport screenshot: output/demo/result-viewport.png. Sources: web/app.js and output/demo/rehearsal.json.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output/evaluation/final-container-results.json and docs/REPORT.md section 5. The 32 cases include 27 answer scenarios and 5 rejects. Metrics measure citation provenance and consistency with the implemented policy. They do not establish independent legal truth or live-model generalisation.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docs/SLO.md, output/load/results.json and saved Locust CSVs. Target declared before measurement: p95 submission-to-final-result &lt;=15s. Cache disabled, provider stub delay350ms, 30s arrival periods and up to50s drain. Small samples and rounded Locust histograms limit capacity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output/load/cache/results.json, docs/REPORT.md section7 and labelguard/store.py. Ten sequential runs per condition, prewarmed cache, priming excluded. p95 is the nearest-rank maximum with n=10. Cache TTL1h. Cache keys include request, corpus, prompt, verifier policy and provider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infra/prometheus.yml, infra/grafana, labelguard/telemetry.py and output/verification/monitoring.json. The saved Jaeger trace connects API, research, provider stub and verification. Screenshot: output/demo/activity-viewport.png. Historical stale worker records and aggregate latency include earlier load/fault exercises. Current readiness is checked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output/verification/final-tests.xml, service-results.json, browser-results.json, fault-results.json, docs/INCIDENTS.md and docs/VERIFICATION.md. 21 tests passed in the Linux container. The external-provider adapter used MockTransport, not a paid live 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docs/REPOSITORY_GUIDE.md and README.md. GitHub repository: https://github.com/NAVEEN4516/pirate-hunter-labelguard . Source and verification commits were pushed and the first Actions workflow passed. Commits organise the delivery and do not claim historical individual contributions.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docs/DEMO.md, docs/REQUIREMENTS.md and docs/REPORT.md. The live external-model adapter needs target-provider evaluation. Professional review remains required for product eligibility, exemptions, lab substantiation, licence authenticity, layout and Legal Metrology. No faculty approval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sources: data/sources.json (three FSSAI PDFs with URL, version and SHA256). Local sources: MiniProject_10_Food_Label_Compliance.pdf, docs/REPORT.md, docs/REQUIREMENTS.md, output/evaluation/final-container-results.json, output/load/results.json and output/verification/. All external facts and screenshots are cited in the relevant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7ef2c09eb4d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3d4d2f2ae4a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ec9e50bd545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dfbd123a54d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711885be146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13cde141148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A830DD-3432-48BA-B40B-D0DCEC242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F9876C-4EA8-42FD-8B43-40C6FC36B1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C9B11C-641A-433B-85E4-28EEFA4BA3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F8B2E5-C957-421F-BA8D-DEF815049C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BA14E8-3BDB-46A9-BD27-430FE8E7EA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083E05-7FAF-4D97-816B-C25FB166F9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8D3D97-EC13-4770-8326-80AC5A41F5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C2A7EA-730E-42A2-866E-5D58812FE2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DF8905-4A06-49C3-903B-13166AF04B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D0DF77-62DF-4FEC-924F-F2A41492FC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2be14d5ffe4733" /><Relationship Type="http://schemas.openxmlformats.org/officeDocument/2006/relationships/slideLayout" Target="/ppt/slideLayouts/slideLayout1.xml" Id="R6cfaa4083c4d4e28" /><Relationship Type="http://schemas.openxmlformats.org/officeDocument/2006/relationships/slideLayout" Target="/ppt/slideLayouts/slideLayout2.xml" Id="R7d71a764bbce4b93" /><Relationship Type="http://schemas.openxmlformats.org/officeDocument/2006/relationships/slideLayout" Target="/ppt/slideLayouts/slideLayout3.xml" Id="Rfae27a0873ab465d" /><Relationship Type="http://schemas.openxmlformats.org/officeDocument/2006/relationships/slideLayout" Target="/ppt/slideLayouts/slideLayout4.xml" Id="R565af02444b54842" /><Relationship Type="http://schemas.openxmlformats.org/officeDocument/2006/relationships/slideLayout" Target="/ppt/slideLayouts/slideLayout5.xml" Id="R4250db13a8794dcd" /><Relationship Type="http://schemas.openxmlformats.org/officeDocument/2006/relationships/slideLayout" Target="/ppt/slideLayouts/slideLayout6.xml" Id="R7f5277fcc25445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faa4083c4d4e28"/>
    <p:sldLayoutId xmlns:r="http://schemas.openxmlformats.org/officeDocument/2006/relationships" id="2147483650" r:id="R7d71a764bbce4b93"/>
    <p:sldLayoutId xmlns:r="http://schemas.openxmlformats.org/officeDocument/2006/relationships" id="2147483651" r:id="Rfae27a0873ab465d"/>
    <p:sldLayoutId xmlns:r="http://schemas.openxmlformats.org/officeDocument/2006/relationships" id="2147483652" r:id="R565af02444b54842"/>
    <p:sldLayoutId xmlns:r="http://schemas.openxmlformats.org/officeDocument/2006/relationships" id="2147483653" r:id="R4250db13a8794dcd"/>
    <p:sldLayoutId xmlns:r="http://schemas.openxmlformats.org/officeDocument/2006/relationships" id="2147483654" r:id="R7f5277fcc25445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5e9af7a955420c" /><Relationship Type="http://schemas.openxmlformats.org/officeDocument/2006/relationships/notesSlide" Target="/ppt/notesSlides/notesSlide1.xml" Id="Rb49fc168ac7343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ea0d6505a84302" /><Relationship Type="http://schemas.openxmlformats.org/officeDocument/2006/relationships/notesSlide" Target="/ppt/notesSlides/notesSlide2.xml" Id="Rf3615204925d44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1bccaa510c4b3b" /><Relationship Type="http://schemas.openxmlformats.org/officeDocument/2006/relationships/notesSlide" Target="/ppt/notesSlides/notesSlide3.xml" Id="R183d02a9729b4a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5033f5d26a4702" /><Relationship Type="http://schemas.openxmlformats.org/officeDocument/2006/relationships/notesSlide" Target="/ppt/notesSlides/notesSlide4.xml" Id="Rf5f590d4e16a43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334885b4441f6" /><Relationship Type="http://schemas.openxmlformats.org/officeDocument/2006/relationships/notesSlide" Target="/ppt/notesSlides/notesSlide5.xml" Id="R97f94884926049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4a0ab366a43b0" /><Relationship Type="http://schemas.openxmlformats.org/officeDocument/2006/relationships/notesSlide" Target="/ppt/notesSlides/notesSlide6.xml" Id="R9b581b5136534e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a100fd4944532" /><Relationship Type="http://schemas.openxmlformats.org/officeDocument/2006/relationships/notesSlide" Target="/ppt/notesSlides/notesSlide7.xml" Id="Rca0b204ef7e944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3872f55b744a6" /><Relationship Type="http://schemas.openxmlformats.org/officeDocument/2006/relationships/notesSlide" Target="/ppt/notesSlides/notesSlide8.xml" Id="Rb4bc564b7a5f49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bdc5d90e974578" /><Relationship Type="http://schemas.openxmlformats.org/officeDocument/2006/relationships/image" Target="/ppt/media/image.jpeg" Id="Rde6196482007418c" /><Relationship Type="http://schemas.openxmlformats.org/officeDocument/2006/relationships/notesSlide" Target="/ppt/notesSlides/notesSlide9.xml" Id="Ra9acf11ec00a43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1793481e734bd1" /><Relationship Type="http://schemas.openxmlformats.org/officeDocument/2006/relationships/notesSlide" Target="/ppt/notesSlides/notesSlide10.xml" Id="Rc5f1f9d4d96649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5862ed6567483b" /><Relationship Type="http://schemas.openxmlformats.org/officeDocument/2006/relationships/notesSlide" Target="/ppt/notesSlides/notesSlide11.xml" Id="Rdc1e4ec413ae49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2b8f35571e4105" /><Relationship Type="http://schemas.openxmlformats.org/officeDocument/2006/relationships/notesSlide" Target="/ppt/notesSlides/notesSlide12.xml" Id="R67fcee14ec1242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1c8909f0d4812" /><Relationship Type="http://schemas.openxmlformats.org/officeDocument/2006/relationships/image" Target="/ppt/media/image2.jpeg" Id="R167eb0598c5d4971" /><Relationship Type="http://schemas.openxmlformats.org/officeDocument/2006/relationships/notesSlide" Target="/ppt/notesSlides/notesSlide13.xml" Id="R8a113b8c138849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323e46260d4e09" /><Relationship Type="http://schemas.openxmlformats.org/officeDocument/2006/relationships/notesSlide" Target="/ppt/notesSlides/notesSlide14.xml" Id="Rc1aa4d0ec73245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238553da8d4a87" /><Relationship Type="http://schemas.openxmlformats.org/officeDocument/2006/relationships/notesSlide" Target="/ppt/notesSlides/notesSlide15.xml" Id="R2208ff558afe43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d6504e49748ee" /><Relationship Type="http://schemas.openxmlformats.org/officeDocument/2006/relationships/notesSlide" Target="/ppt/notesSlides/notesSlide16.xml" Id="R522adddd840545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07f80ac7a48a4" /><Relationship Type="http://schemas.openxmlformats.org/officeDocument/2006/relationships/notesSlide" Target="/ppt/notesSlides/notesSlide17.xml" Id="R097424fd464b4e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RATE HUNTER">
            <a:extLst xmlns:a="http://schemas.openxmlformats.org/drawingml/2006/main">
              <a:ext uri="{FF2B5EF4-FFF2-40B4-BE49-F238E27FC236}">
                <a16:creationId xmlns:a16="http://schemas.microsoft.com/office/drawing/2014/main" id="{B1DE0578-6D81-4AAF-A042-FFFD62A5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8DAD1"/>
                </a:solidFill>
              </a:defRPr>
            </a:defPPr>
            <a:lvl1pPr>
              <a:defRPr sz="2025" b="1">
                <a:solidFill>
                  <a:srgbClr val="78DAD1"/>
                </a:solidFill>
              </a:defRPr>
            </a:lvl1pPr>
            <a:lvl2pPr>
              <a:defRPr sz="2025" b="1">
                <a:solidFill>
                  <a:srgbClr val="78DAD1"/>
                </a:solidFill>
              </a:defRPr>
            </a:lvl2pPr>
            <a:lvl3pPr>
              <a:defRPr sz="2025" b="1">
                <a:solidFill>
                  <a:srgbClr val="78DAD1"/>
                </a:solidFill>
              </a:defRPr>
            </a:lvl3pPr>
            <a:lvl4pPr>
              <a:defRPr sz="2025" b="1">
                <a:solidFill>
                  <a:srgbClr val="78DAD1"/>
                </a:solidFill>
              </a:defRPr>
            </a:lvl4pPr>
            <a:lvl5pPr>
              <a:defRPr sz="2025" b="1">
                <a:solidFill>
                  <a:srgbClr val="78DAD1"/>
                </a:solidFill>
              </a:defRPr>
            </a:lvl5pPr>
            <a:lvl6pPr>
              <a:defRPr sz="2025" b="1">
                <a:solidFill>
                  <a:srgbClr val="78DAD1"/>
                </a:solidFill>
              </a:defRPr>
            </a:lvl6pPr>
            <a:lvl7pPr>
              <a:defRPr sz="2025" b="1">
                <a:solidFill>
                  <a:srgbClr val="78DAD1"/>
                </a:solidFill>
              </a:defRPr>
            </a:lvl7pPr>
            <a:lvl8pPr>
              <a:defRPr sz="2025" b="1">
                <a:solidFill>
                  <a:srgbClr val="78DAD1"/>
                </a:solidFill>
              </a:defRPr>
            </a:lvl8pPr>
            <a:lvl9pPr>
              <a:defRPr sz="2025" b="1">
                <a:solidFill>
                  <a:srgbClr val="78DAD1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8DAD1"/>
                </a:solidFill>
              </a:defRPr>
            </a:pPr>
            <a:r>
              <a:rPr sz="2025" b="1">
                <a:solidFill>
                  <a:srgbClr val="78DAD1"/>
                </a:solidFill>
              </a:rPr>
              <a:t>PIRATE HUNTER</a:t>
            </a:r>
          </a:p>
        </p:txBody>
      </p:sp>
      <p:sp>
        <p:nvSpPr>
          <p:cNvPr id="2" name="LabelGuard">
            <a:extLst xmlns:a="http://schemas.openxmlformats.org/drawingml/2006/main">
              <a:ext uri="{FF2B5EF4-FFF2-40B4-BE49-F238E27FC236}">
                <a16:creationId xmlns:a16="http://schemas.microsoft.com/office/drawing/2014/main" id="{2C41927A-9AFE-4373-8B75-D37FD11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</a:defRPr>
            </a:defPPr>
            <a:lvl1pPr>
              <a:defRPr sz="5700" b="1">
                <a:solidFill>
                  <a:srgbClr val="FFFFFF"/>
                </a:solidFill>
              </a:defRPr>
            </a:lvl1pPr>
            <a:lvl2pPr>
              <a:defRPr sz="5700" b="1">
                <a:solidFill>
                  <a:srgbClr val="FFFFFF"/>
                </a:solidFill>
              </a:defRPr>
            </a:lvl2pPr>
            <a:lvl3pPr>
              <a:defRPr sz="5700" b="1">
                <a:solidFill>
                  <a:srgbClr val="FFFFFF"/>
                </a:solidFill>
              </a:defRPr>
            </a:lvl3pPr>
            <a:lvl4pPr>
              <a:defRPr sz="5700" b="1">
                <a:solidFill>
                  <a:srgbClr val="FFFFFF"/>
                </a:solidFill>
              </a:defRPr>
            </a:lvl4pPr>
            <a:lvl5pPr>
              <a:defRPr sz="5700" b="1">
                <a:solidFill>
                  <a:srgbClr val="FFFFFF"/>
                </a:solidFill>
              </a:defRPr>
            </a:lvl5pPr>
            <a:lvl6pPr>
              <a:defRPr sz="5700" b="1">
                <a:solidFill>
                  <a:srgbClr val="FFFFFF"/>
                </a:solidFill>
              </a:defRPr>
            </a:lvl6pPr>
            <a:lvl7pPr>
              <a:defRPr sz="5700" b="1">
                <a:solidFill>
                  <a:srgbClr val="FFFFFF"/>
                </a:solidFill>
              </a:defRPr>
            </a:lvl7pPr>
            <a:lvl8pPr>
              <a:defRPr sz="5700" b="1">
                <a:solidFill>
                  <a:srgbClr val="FFFFFF"/>
                </a:solidFill>
              </a:defRPr>
            </a:lvl8pPr>
            <a:lvl9pPr>
              <a:defRPr sz="57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LabelGuard</a:t>
            </a:r>
          </a:p>
        </p:txBody>
      </p:sp>
      <p:sp>
        <p:nvSpPr>
          <p:cNvPr id="3" name="Packaged Food Label&#10;Compliance Check Service">
            <a:extLst xmlns:a="http://schemas.openxmlformats.org/drawingml/2006/main">
              <a:ext uri="{FF2B5EF4-FFF2-40B4-BE49-F238E27FC236}">
                <a16:creationId xmlns:a16="http://schemas.microsoft.com/office/drawing/2014/main" id="{067536DB-49BC-41E2-B81E-ADBF7BE9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FFFFFF"/>
                </a:solidFill>
              </a:defRPr>
            </a:defPPr>
            <a:lvl1pPr>
              <a:defRPr sz="3225" b="0">
                <a:solidFill>
                  <a:srgbClr val="FFFFFF"/>
                </a:solidFill>
              </a:defRPr>
            </a:lvl1pPr>
            <a:lvl2pPr>
              <a:defRPr sz="3225" b="0">
                <a:solidFill>
                  <a:srgbClr val="FFFFFF"/>
                </a:solidFill>
              </a:defRPr>
            </a:lvl2pPr>
            <a:lvl3pPr>
              <a:defRPr sz="3225" b="0">
                <a:solidFill>
                  <a:srgbClr val="FFFFFF"/>
                </a:solidFill>
              </a:defRPr>
            </a:lvl3pPr>
            <a:lvl4pPr>
              <a:defRPr sz="3225" b="0">
                <a:solidFill>
                  <a:srgbClr val="FFFFFF"/>
                </a:solidFill>
              </a:defRPr>
            </a:lvl4pPr>
            <a:lvl5pPr>
              <a:defRPr sz="3225" b="0">
                <a:solidFill>
                  <a:srgbClr val="FFFFFF"/>
                </a:solidFill>
              </a:defRPr>
            </a:lvl5pPr>
            <a:lvl6pPr>
              <a:defRPr sz="3225" b="0">
                <a:solidFill>
                  <a:srgbClr val="FFFFFF"/>
                </a:solidFill>
              </a:defRPr>
            </a:lvl6pPr>
            <a:lvl7pPr>
              <a:defRPr sz="3225" b="0">
                <a:solidFill>
                  <a:srgbClr val="FFFFFF"/>
                </a:solidFill>
              </a:defRPr>
            </a:lvl7pPr>
            <a:lvl8pPr>
              <a:defRPr sz="3225" b="0">
                <a:solidFill>
                  <a:srgbClr val="FFFFFF"/>
                </a:solidFill>
              </a:defRPr>
            </a:lvl8pPr>
            <a:lvl9pPr>
              <a:defRPr sz="32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FFFFFF"/>
                </a:solidFill>
              </a:defRPr>
            </a:pPr>
            <a:r>
              <a:rPr sz="3225" b="0">
                <a:solidFill>
                  <a:srgbClr val="FFFFFF"/>
                </a:solidFill>
              </a:rPr>
              <a:t>Packaged Food Label</a:t>
            </a:r>
          </a:p>
          <a:p xmlns:a="http://schemas.openxmlformats.org/drawingml/2006/main">
            <a:pPr>
              <a:defRPr sz="3225" b="0">
                <a:solidFill>
                  <a:srgbClr val="FFFFFF"/>
                </a:solidFill>
              </a:defRPr>
            </a:pPr>
            <a:r>
              <a:rPr sz="3225" b="0">
                <a:solidFill>
                  <a:srgbClr val="FFFFFF"/>
                </a:solidFill>
              </a:rPr>
              <a:t>Compliance Check Service</a:t>
            </a:r>
          </a:p>
        </p:txBody>
      </p:sp>
      <p:sp>
        <p:nvSpPr>
          <p:cNvPr id="4" name="Mini Project 10&#10;ML System Design &amp; AgentOps&#10;PES Un">
            <a:extLst xmlns:a="http://schemas.openxmlformats.org/drawingml/2006/main">
              <a:ext uri="{FF2B5EF4-FFF2-40B4-BE49-F238E27FC236}">
                <a16:creationId xmlns:a16="http://schemas.microsoft.com/office/drawing/2014/main" id="{F32B8571-7055-4592-B700-9985195E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D4DB"/>
                </a:solidFill>
              </a:defRPr>
            </a:defPPr>
            <a:lvl1pPr>
              <a:defRPr sz="1875" b="0">
                <a:solidFill>
                  <a:srgbClr val="B9D4DB"/>
                </a:solidFill>
              </a:defRPr>
            </a:lvl1pPr>
            <a:lvl2pPr>
              <a:defRPr sz="1875" b="0">
                <a:solidFill>
                  <a:srgbClr val="B9D4DB"/>
                </a:solidFill>
              </a:defRPr>
            </a:lvl2pPr>
            <a:lvl3pPr>
              <a:defRPr sz="1875" b="0">
                <a:solidFill>
                  <a:srgbClr val="B9D4DB"/>
                </a:solidFill>
              </a:defRPr>
            </a:lvl3pPr>
            <a:lvl4pPr>
              <a:defRPr sz="1875" b="0">
                <a:solidFill>
                  <a:srgbClr val="B9D4DB"/>
                </a:solidFill>
              </a:defRPr>
            </a:lvl4pPr>
            <a:lvl5pPr>
              <a:defRPr sz="1875" b="0">
                <a:solidFill>
                  <a:srgbClr val="B9D4DB"/>
                </a:solidFill>
              </a:defRPr>
            </a:lvl5pPr>
            <a:lvl6pPr>
              <a:defRPr sz="1875" b="0">
                <a:solidFill>
                  <a:srgbClr val="B9D4DB"/>
                </a:solidFill>
              </a:defRPr>
            </a:lvl6pPr>
            <a:lvl7pPr>
              <a:defRPr sz="1875" b="0">
                <a:solidFill>
                  <a:srgbClr val="B9D4DB"/>
                </a:solidFill>
              </a:defRPr>
            </a:lvl7pPr>
            <a:lvl8pPr>
              <a:defRPr sz="1875" b="0">
                <a:solidFill>
                  <a:srgbClr val="B9D4DB"/>
                </a:solidFill>
              </a:defRPr>
            </a:lvl8pPr>
            <a:lvl9pPr>
              <a:defRPr sz="1875" b="0">
                <a:solidFill>
                  <a:srgbClr val="B9D4D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D4DB"/>
                </a:solidFill>
              </a:defRPr>
            </a:pPr>
            <a:r>
              <a:rPr sz="1875" b="0">
                <a:solidFill>
                  <a:srgbClr val="B9D4DB"/>
                </a:solidFill>
              </a:rPr>
              <a:t>Mini Project 10</a:t>
            </a:r>
          </a:p>
          <a:p xmlns:a="http://schemas.openxmlformats.org/drawingml/2006/main">
            <a:pPr>
              <a:defRPr sz="1875" b="0">
                <a:solidFill>
                  <a:srgbClr val="B9D4DB"/>
                </a:solidFill>
              </a:defRPr>
            </a:pPr>
            <a:r>
              <a:rPr sz="1875" b="0">
                <a:solidFill>
                  <a:srgbClr val="B9D4DB"/>
                </a:solidFill>
              </a:rPr>
              <a:t>ML System Design &amp; AgentOps</a:t>
            </a:r>
          </a:p>
          <a:p xmlns:a="http://schemas.openxmlformats.org/drawingml/2006/main">
            <a:pPr>
              <a:defRPr sz="1875" b="0">
                <a:solidFill>
                  <a:srgbClr val="B9D4DB"/>
                </a:solidFill>
              </a:defRPr>
            </a:pPr>
            <a:r>
              <a:rPr sz="1875" b="0">
                <a:solidFill>
                  <a:srgbClr val="B9D4DB"/>
                </a:solidFill>
              </a:rPr>
              <a:t>PES University  /  28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39545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roject team">
            <a:extLst xmlns:a="http://schemas.openxmlformats.org/drawingml/2006/main">
              <a:ext uri="{FF2B5EF4-FFF2-40B4-BE49-F238E27FC236}">
                <a16:creationId xmlns:a16="http://schemas.microsoft.com/office/drawing/2014/main" id="{4131282E-DFC4-41C7-84CE-C04CE402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Project team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15E0795C-A2F2-4A40-9377-DA25D4BB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7834B-770B-42F4-ACA0-B7858C1D72C7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495800"/>
              </a:tblGrid>
              <a:tr h="785813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Team member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SRN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Naveen Prasad 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PES1UG24AM379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Nishanth Nag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PES1UG24AM381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Sateesh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PES1UG24AM397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am: Pirate Hunter. Course: UE24AM342AA5.">
            <a:extLst xmlns:a="http://schemas.openxmlformats.org/drawingml/2006/main">
              <a:ext uri="{FF2B5EF4-FFF2-40B4-BE49-F238E27FC236}">
                <a16:creationId xmlns:a16="http://schemas.microsoft.com/office/drawing/2014/main" id="{836355D0-952B-4826-A24D-10066795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977"/>
                </a:solidFill>
              </a:defRPr>
            </a:defPPr>
            <a:lvl1pPr>
              <a:defRPr sz="1500" b="0">
                <a:solidFill>
                  <a:srgbClr val="526977"/>
                </a:solidFill>
              </a:defRPr>
            </a:lvl1pPr>
            <a:lvl2pPr>
              <a:defRPr sz="1500" b="0">
                <a:solidFill>
                  <a:srgbClr val="526977"/>
                </a:solidFill>
              </a:defRPr>
            </a:lvl2pPr>
            <a:lvl3pPr>
              <a:defRPr sz="1500" b="0">
                <a:solidFill>
                  <a:srgbClr val="526977"/>
                </a:solidFill>
              </a:defRPr>
            </a:lvl3pPr>
            <a:lvl4pPr>
              <a:defRPr sz="1500" b="0">
                <a:solidFill>
                  <a:srgbClr val="526977"/>
                </a:solidFill>
              </a:defRPr>
            </a:lvl4pPr>
            <a:lvl5pPr>
              <a:defRPr sz="1500" b="0">
                <a:solidFill>
                  <a:srgbClr val="526977"/>
                </a:solidFill>
              </a:defRPr>
            </a:lvl5pPr>
            <a:lvl6pPr>
              <a:defRPr sz="1500" b="0">
                <a:solidFill>
                  <a:srgbClr val="526977"/>
                </a:solidFill>
              </a:defRPr>
            </a:lvl6pPr>
            <a:lvl7pPr>
              <a:defRPr sz="1500" b="0">
                <a:solidFill>
                  <a:srgbClr val="526977"/>
                </a:solidFill>
              </a:defRPr>
            </a:lvl7pPr>
            <a:lvl8pPr>
              <a:defRPr sz="1500" b="0">
                <a:solidFill>
                  <a:srgbClr val="526977"/>
                </a:solidFill>
              </a:defRPr>
            </a:lvl8pPr>
            <a:lvl9pPr>
              <a:defRPr sz="1500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</a:defRPr>
            </a:pPr>
            <a:r>
              <a:rPr sz="1500" b="0">
                <a:solidFill>
                  <a:srgbClr val="526977"/>
                </a:solidFill>
              </a:rPr>
              <a:t>Team: Pirate Hunter. Course: UE24AM342AA5.</a:t>
            </a:r>
          </a:p>
        </p:txBody>
      </p:sp>
    </p:spTree>
    <p:extLst>
      <p:ext uri="{BB962C8B-B14F-4D97-AF65-F5344CB8AC3E}">
        <p14:creationId xmlns:p14="http://schemas.microsoft.com/office/powerpoint/2010/main" val="1137925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oblem and supported scope">
            <a:extLst xmlns:a="http://schemas.openxmlformats.org/drawingml/2006/main">
              <a:ext uri="{FF2B5EF4-FFF2-40B4-BE49-F238E27FC236}">
                <a16:creationId xmlns:a16="http://schemas.microsoft.com/office/drawing/2014/main" id="{AE0FB899-E0DD-4EFE-9EB6-4A1D80DC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Problem and supported scope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1A1FB496-051F-4F9B-AF63-002935FE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03</a:t>
            </a:r>
          </a:p>
        </p:txBody>
      </p:sp>
      <p:sp>
        <p:nvSpPr>
          <p:cNvPr id="3" name="Problem">
            <a:extLst xmlns:a="http://schemas.openxmlformats.org/drawingml/2006/main">
              <a:ext uri="{FF2B5EF4-FFF2-40B4-BE49-F238E27FC236}">
                <a16:creationId xmlns:a16="http://schemas.microsoft.com/office/drawing/2014/main" id="{760F2C29-74A1-42EE-B78E-4E942676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Problem</a:t>
            </a:r>
          </a:p>
        </p:txBody>
      </p:sp>
      <p:sp>
        <p:nvSpPr>
          <p:cNvPr id="4" name="Label declarations and nutrition claims depend on ">
            <a:extLst xmlns:a="http://schemas.openxmlformats.org/drawingml/2006/main">
              <a:ext uri="{FF2B5EF4-FFF2-40B4-BE49-F238E27FC236}">
                <a16:creationId xmlns:a16="http://schemas.microsoft.com/office/drawing/2014/main" id="{5D6DB654-3DD3-4E0F-8D4F-1CC23CD2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Label declarations and nutrition claims depend on different FSSAI regulations.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D47E114A-006F-4D4D-9F59-84642194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Input</a:t>
            </a:r>
          </a:p>
        </p:txBody>
      </p:sp>
      <p:sp>
        <p:nvSpPr>
          <p:cNvPr id="6" name="Structured label and package data for domestic ret">
            <a:extLst xmlns:a="http://schemas.openxmlformats.org/drawingml/2006/main">
              <a:ext uri="{FF2B5EF4-FFF2-40B4-BE49-F238E27FC236}">
                <a16:creationId xmlns:a16="http://schemas.microsoft.com/office/drawing/2014/main" id="{18C15E07-DFF2-4B99-B8BC-1D6AC12C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Structured label and package data for domestic retail processed breakfast cereals.</a:t>
            </a:r>
          </a:p>
        </p:txBody>
      </p:sp>
      <p:sp>
        <p:nvSpPr>
          <p:cNvPr id="7" name="Output">
            <a:extLst xmlns:a="http://schemas.openxmlformats.org/drawingml/2006/main">
              <a:ext uri="{FF2B5EF4-FFF2-40B4-BE49-F238E27FC236}">
                <a16:creationId xmlns:a16="http://schemas.microsoft.com/office/drawing/2014/main" id="{214F717E-9D19-4C56-B947-8696BC92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Output</a:t>
            </a:r>
          </a:p>
        </p:txBody>
      </p:sp>
      <p:sp>
        <p:nvSpPr>
          <p:cNvPr id="8" name="Cited findings with a supported-checks, revision o">
            <a:extLst xmlns:a="http://schemas.openxmlformats.org/drawingml/2006/main">
              <a:ext uri="{FF2B5EF4-FFF2-40B4-BE49-F238E27FC236}">
                <a16:creationId xmlns:a16="http://schemas.microsoft.com/office/drawing/2014/main" id="{219D82EA-D98F-4566-90CF-C1D500C0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Cited findings with a supported-checks, revision or regulatory-review route.</a:t>
            </a:r>
          </a:p>
        </p:txBody>
      </p:sp>
      <p:sp>
        <p:nvSpPr>
          <p:cNvPr id="9" name="Human decision">
            <a:extLst xmlns:a="http://schemas.openxmlformats.org/drawingml/2006/main">
              <a:ext uri="{FF2B5EF4-FFF2-40B4-BE49-F238E27FC236}">
                <a16:creationId xmlns:a16="http://schemas.microsoft.com/office/drawing/2014/main" id="{E76D5E90-D4A4-4722-86FF-057FFE7E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Human decision</a:t>
            </a:r>
          </a:p>
        </p:txBody>
      </p:sp>
      <p:sp>
        <p:nvSpPr>
          <p:cNvPr id="10" name="A regulatory professional decides print readiness.">
            <a:extLst xmlns:a="http://schemas.openxmlformats.org/drawingml/2006/main">
              <a:ext uri="{FF2B5EF4-FFF2-40B4-BE49-F238E27FC236}">
                <a16:creationId xmlns:a16="http://schemas.microsoft.com/office/drawing/2014/main" id="{F01C1886-BE37-43D2-86DC-FCE460E1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A regulatory professional decides print readiness. The service never authorises printing.</a:t>
            </a:r>
          </a:p>
        </p:txBody>
      </p:sp>
    </p:spTree>
    <p:extLst>
      <p:ext uri="{BB962C8B-B14F-4D97-AF65-F5344CB8AC3E}">
        <p14:creationId xmlns:p14="http://schemas.microsoft.com/office/powerpoint/2010/main" val="54806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synchronous service workflow">
            <a:extLst xmlns:a="http://schemas.openxmlformats.org/drawingml/2006/main">
              <a:ext uri="{FF2B5EF4-FFF2-40B4-BE49-F238E27FC236}">
                <a16:creationId xmlns:a16="http://schemas.microsoft.com/office/drawing/2014/main" id="{C17A291B-4517-4717-8139-FBC535EC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Asynchronous service workflow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05F25A64-F345-468F-A93C-1F931F6C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04</a:t>
            </a:r>
          </a:p>
        </p:txBody>
      </p:sp>
      <p:sp>
        <p:nvSpPr>
          <p:cNvPr id="3" name="01  Submit">
            <a:extLst xmlns:a="http://schemas.openxmlformats.org/drawingml/2006/main">
              <a:ext uri="{FF2B5EF4-FFF2-40B4-BE49-F238E27FC236}">
                <a16:creationId xmlns:a16="http://schemas.microsoft.com/office/drawing/2014/main" id="{A3D72A14-CC6D-4D4D-8225-B5EDB7A0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01  Submit</a:t>
            </a:r>
          </a:p>
        </p:txBody>
      </p:sp>
      <p:sp>
        <p:nvSpPr>
          <p:cNvPr id="4" name="FastAPI validates the request and returns a run ID">
            <a:extLst xmlns:a="http://schemas.openxmlformats.org/drawingml/2006/main">
              <a:ext uri="{FF2B5EF4-FFF2-40B4-BE49-F238E27FC236}">
                <a16:creationId xmlns:a16="http://schemas.microsoft.com/office/drawing/2014/main" id="{C280200E-1EFE-4494-81A3-B52C4267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FastAPI validates the request and returns a run ID with HTTP 202.</a:t>
            </a:r>
          </a:p>
        </p:txBody>
      </p:sp>
      <p:sp>
        <p:nvSpPr>
          <p:cNvPr id="5" name="02  Research">
            <a:extLst xmlns:a="http://schemas.openxmlformats.org/drawingml/2006/main">
              <a:ext uri="{FF2B5EF4-FFF2-40B4-BE49-F238E27FC236}">
                <a16:creationId xmlns:a16="http://schemas.microsoft.com/office/drawing/2014/main" id="{92C62ABE-0D41-4E53-9710-6772C8F4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02  Research</a:t>
            </a:r>
          </a:p>
        </p:txBody>
      </p:sp>
      <p:sp>
        <p:nvSpPr>
          <p:cNvPr id="6" name="A separate worker selects tools and retrieves appl">
            <a:extLst xmlns:a="http://schemas.openxmlformats.org/drawingml/2006/main">
              <a:ext uri="{FF2B5EF4-FFF2-40B4-BE49-F238E27FC236}">
                <a16:creationId xmlns:a16="http://schemas.microsoft.com/office/drawing/2014/main" id="{C9488842-5923-4993-9987-7B34441D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A separate worker selects tools and retrieves applicable regulatory evidence.</a:t>
            </a:r>
          </a:p>
        </p:txBody>
      </p:sp>
      <p:sp>
        <p:nvSpPr>
          <p:cNvPr id="7" name="03  Verify">
            <a:extLst xmlns:a="http://schemas.openxmlformats.org/drawingml/2006/main">
              <a:ext uri="{FF2B5EF4-FFF2-40B4-BE49-F238E27FC236}">
                <a16:creationId xmlns:a16="http://schemas.microsoft.com/office/drawing/2014/main" id="{91E313BF-63A3-4271-A723-7A2D8969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03  Verify</a:t>
            </a:r>
          </a:p>
        </p:txBody>
      </p:sp>
      <p:sp>
        <p:nvSpPr>
          <p:cNvPr id="8" name="Another worker re-resolves citations and recompute">
            <a:extLst xmlns:a="http://schemas.openxmlformats.org/drawingml/2006/main">
              <a:ext uri="{FF2B5EF4-FFF2-40B4-BE49-F238E27FC236}">
                <a16:creationId xmlns:a16="http://schemas.microsoft.com/office/drawing/2014/main" id="{3F075FCE-71E9-47F1-BBE7-E272A734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Another worker re-resolves citations and recomputes the proposed findings.</a:t>
            </a:r>
          </a:p>
        </p:txBody>
      </p:sp>
      <p:sp>
        <p:nvSpPr>
          <p:cNvPr id="9" name="04  Review">
            <a:extLst xmlns:a="http://schemas.openxmlformats.org/drawingml/2006/main">
              <a:ext uri="{FF2B5EF4-FFF2-40B4-BE49-F238E27FC236}">
                <a16:creationId xmlns:a16="http://schemas.microsoft.com/office/drawing/2014/main" id="{B4A5FBAF-4C8F-47ED-A370-E1A1B7C5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04  Review</a:t>
            </a:r>
          </a:p>
        </p:txBody>
      </p:sp>
      <p:sp>
        <p:nvSpPr>
          <p:cNvPr id="10" name="The browser polls for the verified result, exact c">
            <a:extLst xmlns:a="http://schemas.openxmlformats.org/drawingml/2006/main">
              <a:ext uri="{FF2B5EF4-FFF2-40B4-BE49-F238E27FC236}">
                <a16:creationId xmlns:a16="http://schemas.microsoft.com/office/drawing/2014/main" id="{8A05D38C-C0FB-494A-9180-8F3F91FE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The browser polls for the verified result, exact citations and trace.</a:t>
            </a:r>
          </a:p>
        </p:txBody>
      </p:sp>
      <p:sp>
        <p:nvSpPr>
          <p:cNvPr id="11" name="Durable leases and atomic hand-off preserve work a">
            <a:extLst xmlns:a="http://schemas.openxmlformats.org/drawingml/2006/main">
              <a:ext uri="{FF2B5EF4-FFF2-40B4-BE49-F238E27FC236}">
                <a16:creationId xmlns:a16="http://schemas.microsoft.com/office/drawing/2014/main" id="{BA618732-C13E-4713-B5CB-D05D8A33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977"/>
                </a:solidFill>
              </a:defRPr>
            </a:defPPr>
            <a:lvl1pPr>
              <a:defRPr sz="1500" b="0">
                <a:solidFill>
                  <a:srgbClr val="526977"/>
                </a:solidFill>
              </a:defRPr>
            </a:lvl1pPr>
            <a:lvl2pPr>
              <a:defRPr sz="1500" b="0">
                <a:solidFill>
                  <a:srgbClr val="526977"/>
                </a:solidFill>
              </a:defRPr>
            </a:lvl2pPr>
            <a:lvl3pPr>
              <a:defRPr sz="1500" b="0">
                <a:solidFill>
                  <a:srgbClr val="526977"/>
                </a:solidFill>
              </a:defRPr>
            </a:lvl3pPr>
            <a:lvl4pPr>
              <a:defRPr sz="1500" b="0">
                <a:solidFill>
                  <a:srgbClr val="526977"/>
                </a:solidFill>
              </a:defRPr>
            </a:lvl4pPr>
            <a:lvl5pPr>
              <a:defRPr sz="1500" b="0">
                <a:solidFill>
                  <a:srgbClr val="526977"/>
                </a:solidFill>
              </a:defRPr>
            </a:lvl5pPr>
            <a:lvl6pPr>
              <a:defRPr sz="1500" b="0">
                <a:solidFill>
                  <a:srgbClr val="526977"/>
                </a:solidFill>
              </a:defRPr>
            </a:lvl6pPr>
            <a:lvl7pPr>
              <a:defRPr sz="1500" b="0">
                <a:solidFill>
                  <a:srgbClr val="526977"/>
                </a:solidFill>
              </a:defRPr>
            </a:lvl7pPr>
            <a:lvl8pPr>
              <a:defRPr sz="1500" b="0">
                <a:solidFill>
                  <a:srgbClr val="526977"/>
                </a:solidFill>
              </a:defRPr>
            </a:lvl8pPr>
            <a:lvl9pPr>
              <a:defRPr sz="1500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</a:defRPr>
            </a:pPr>
            <a:r>
              <a:rPr sz="1500" b="0">
                <a:solidFill>
                  <a:srgbClr val="526977"/>
                </a:solidFill>
              </a:rPr>
              <a:t>Durable leases and atomic hand-off preserve work across worker restarts.</a:t>
            </a:r>
          </a:p>
        </p:txBody>
      </p:sp>
    </p:spTree>
    <p:extLst>
      <p:ext uri="{BB962C8B-B14F-4D97-AF65-F5344CB8AC3E}">
        <p14:creationId xmlns:p14="http://schemas.microsoft.com/office/powerpoint/2010/main" val="1640507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wo agents with separate responsibilities">
            <a:extLst xmlns:a="http://schemas.openxmlformats.org/drawingml/2006/main">
              <a:ext uri="{FF2B5EF4-FFF2-40B4-BE49-F238E27FC236}">
                <a16:creationId xmlns:a16="http://schemas.microsoft.com/office/drawing/2014/main" id="{A585E122-9922-4181-B16C-7E5AFB57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Two agents with separate responsibilities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D8163529-6D1D-4FA1-883D-D8F3A5D4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FEA77-152A-49C1-83EF-CB047DAA9A76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248150"/>
                <a:gridCol w="42481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Responsibility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Research agent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Verification agent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Execution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LangGraph tool loop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Separate LangGraph graph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Evidence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Search and exact clause lookup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Re-resolve against pinned corpus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Decision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Build a candidate with citations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Recompute policy and arithmetic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Failure path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Bounded retry or escalation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One repair pass, then escalation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</a:tbl>
          </a:graphicData>
        </a:graphic>
      </p:graphicFrame>
      <p:sp>
        <p:nvSpPr>
          <p:cNvPr id="4" name="Research tools: request_fields, corpus_search and ">
            <a:extLst xmlns:a="http://schemas.openxmlformats.org/drawingml/2006/main">
              <a:ext uri="{FF2B5EF4-FFF2-40B4-BE49-F238E27FC236}">
                <a16:creationId xmlns:a16="http://schemas.microsoft.com/office/drawing/2014/main" id="{3BFD14CF-4565-4797-A045-68417540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977"/>
                </a:solidFill>
              </a:defRPr>
            </a:defPPr>
            <a:lvl1pPr>
              <a:defRPr sz="1500" b="0">
                <a:solidFill>
                  <a:srgbClr val="526977"/>
                </a:solidFill>
              </a:defRPr>
            </a:lvl1pPr>
            <a:lvl2pPr>
              <a:defRPr sz="1500" b="0">
                <a:solidFill>
                  <a:srgbClr val="526977"/>
                </a:solidFill>
              </a:defRPr>
            </a:lvl2pPr>
            <a:lvl3pPr>
              <a:defRPr sz="1500" b="0">
                <a:solidFill>
                  <a:srgbClr val="526977"/>
                </a:solidFill>
              </a:defRPr>
            </a:lvl3pPr>
            <a:lvl4pPr>
              <a:defRPr sz="1500" b="0">
                <a:solidFill>
                  <a:srgbClr val="526977"/>
                </a:solidFill>
              </a:defRPr>
            </a:lvl4pPr>
            <a:lvl5pPr>
              <a:defRPr sz="1500" b="0">
                <a:solidFill>
                  <a:srgbClr val="526977"/>
                </a:solidFill>
              </a:defRPr>
            </a:lvl5pPr>
            <a:lvl6pPr>
              <a:defRPr sz="1500" b="0">
                <a:solidFill>
                  <a:srgbClr val="526977"/>
                </a:solidFill>
              </a:defRPr>
            </a:lvl6pPr>
            <a:lvl7pPr>
              <a:defRPr sz="1500" b="0">
                <a:solidFill>
                  <a:srgbClr val="526977"/>
                </a:solidFill>
              </a:defRPr>
            </a:lvl7pPr>
            <a:lvl8pPr>
              <a:defRPr sz="1500" b="0">
                <a:solidFill>
                  <a:srgbClr val="526977"/>
                </a:solidFill>
              </a:defRPr>
            </a:lvl8pPr>
            <a:lvl9pPr>
              <a:defRPr sz="1500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</a:defRPr>
            </a:pPr>
            <a:r>
              <a:rPr sz="1500" b="0">
                <a:solidFill>
                  <a:srgbClr val="526977"/>
                </a:solidFill>
              </a:rPr>
              <a:t>Research tools: request_fields, corpus_search and clause_lookup.</a:t>
            </a:r>
          </a:p>
        </p:txBody>
      </p:sp>
    </p:spTree>
    <p:extLst>
      <p:ext uri="{BB962C8B-B14F-4D97-AF65-F5344CB8AC3E}">
        <p14:creationId xmlns:p14="http://schemas.microsoft.com/office/powerpoint/2010/main" val="16632583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nned regulatory corpus">
            <a:extLst xmlns:a="http://schemas.openxmlformats.org/drawingml/2006/main">
              <a:ext uri="{FF2B5EF4-FFF2-40B4-BE49-F238E27FC236}">
                <a16:creationId xmlns:a16="http://schemas.microsoft.com/office/drawing/2014/main" id="{704CB6B6-A0AF-48A5-9D55-DEC13CE4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Pinned regulatory corpus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A4275812-E4B9-4B1F-9EA4-F8E98487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707ED-F8D7-44F9-82FC-7AA22AB19825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2952750"/>
                <a:gridCol w="3495675"/>
              </a:tblGrid>
              <a:tr h="690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Pinned 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Use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Labelling and Display 2020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VIII, 9 Sep 2025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Mandatory declarations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Advertising and Claims 2018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IV, 14 Dec 2022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Nutrition-claim conditions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First Amendment 2026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24 Mar 2026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Commences 1 Jul 2027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146 chunks  /  19 curated clauses">
            <a:extLst xmlns:a="http://schemas.openxmlformats.org/drawingml/2006/main">
              <a:ext uri="{FF2B5EF4-FFF2-40B4-BE49-F238E27FC236}">
                <a16:creationId xmlns:a16="http://schemas.microsoft.com/office/drawing/2014/main" id="{FB07852D-89CD-4500-9C77-4AB154F7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87E83"/>
                </a:solidFill>
              </a:defRPr>
            </a:defPPr>
            <a:lvl1pPr>
              <a:defRPr sz="2475" b="1">
                <a:solidFill>
                  <a:srgbClr val="087E83"/>
                </a:solidFill>
              </a:defRPr>
            </a:lvl1pPr>
            <a:lvl2pPr>
              <a:defRPr sz="2475" b="1">
                <a:solidFill>
                  <a:srgbClr val="087E83"/>
                </a:solidFill>
              </a:defRPr>
            </a:lvl2pPr>
            <a:lvl3pPr>
              <a:defRPr sz="2475" b="1">
                <a:solidFill>
                  <a:srgbClr val="087E83"/>
                </a:solidFill>
              </a:defRPr>
            </a:lvl3pPr>
            <a:lvl4pPr>
              <a:defRPr sz="2475" b="1">
                <a:solidFill>
                  <a:srgbClr val="087E83"/>
                </a:solidFill>
              </a:defRPr>
            </a:lvl4pPr>
            <a:lvl5pPr>
              <a:defRPr sz="2475" b="1">
                <a:solidFill>
                  <a:srgbClr val="087E83"/>
                </a:solidFill>
              </a:defRPr>
            </a:lvl5pPr>
            <a:lvl6pPr>
              <a:defRPr sz="2475" b="1">
                <a:solidFill>
                  <a:srgbClr val="087E83"/>
                </a:solidFill>
              </a:defRPr>
            </a:lvl6pPr>
            <a:lvl7pPr>
              <a:defRPr sz="2475" b="1">
                <a:solidFill>
                  <a:srgbClr val="087E83"/>
                </a:solidFill>
              </a:defRPr>
            </a:lvl7pPr>
            <a:lvl8pPr>
              <a:defRPr sz="2475" b="1">
                <a:solidFill>
                  <a:srgbClr val="087E83"/>
                </a:solidFill>
              </a:defRPr>
            </a:lvl8pPr>
            <a:lvl9pPr>
              <a:defRPr sz="247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87E83"/>
                </a:solidFill>
              </a:defRPr>
            </a:pPr>
            <a:r>
              <a:rPr sz="2475" b="1">
                <a:solidFill>
                  <a:srgbClr val="087E83"/>
                </a:solidFill>
              </a:rPr>
              <a:t>146 chunks  /  19 curated clauses</a:t>
            </a:r>
          </a:p>
        </p:txBody>
      </p:sp>
      <p:sp>
        <p:nvSpPr>
          <p:cNvPr id="5" name="LangChain + FAISS with local lexical hashing embed">
            <a:extLst xmlns:a="http://schemas.openxmlformats.org/drawingml/2006/main">
              <a:ext uri="{FF2B5EF4-FFF2-40B4-BE49-F238E27FC236}">
                <a16:creationId xmlns:a16="http://schemas.microsoft.com/office/drawing/2014/main" id="{FBD2B416-1EB2-45E7-8D94-5E5F0AB1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977"/>
                </a:solidFill>
              </a:defRPr>
            </a:defPPr>
            <a:lvl1pPr>
              <a:defRPr sz="1500" b="0">
                <a:solidFill>
                  <a:srgbClr val="526977"/>
                </a:solidFill>
              </a:defRPr>
            </a:lvl1pPr>
            <a:lvl2pPr>
              <a:defRPr sz="1500" b="0">
                <a:solidFill>
                  <a:srgbClr val="526977"/>
                </a:solidFill>
              </a:defRPr>
            </a:lvl2pPr>
            <a:lvl3pPr>
              <a:defRPr sz="1500" b="0">
                <a:solidFill>
                  <a:srgbClr val="526977"/>
                </a:solidFill>
              </a:defRPr>
            </a:lvl3pPr>
            <a:lvl4pPr>
              <a:defRPr sz="1500" b="0">
                <a:solidFill>
                  <a:srgbClr val="526977"/>
                </a:solidFill>
              </a:defRPr>
            </a:lvl4pPr>
            <a:lvl5pPr>
              <a:defRPr sz="1500" b="0">
                <a:solidFill>
                  <a:srgbClr val="526977"/>
                </a:solidFill>
              </a:defRPr>
            </a:lvl5pPr>
            <a:lvl6pPr>
              <a:defRPr sz="1500" b="0">
                <a:solidFill>
                  <a:srgbClr val="526977"/>
                </a:solidFill>
              </a:defRPr>
            </a:lvl6pPr>
            <a:lvl7pPr>
              <a:defRPr sz="1500" b="0">
                <a:solidFill>
                  <a:srgbClr val="526977"/>
                </a:solidFill>
              </a:defRPr>
            </a:lvl7pPr>
            <a:lvl8pPr>
              <a:defRPr sz="1500" b="0">
                <a:solidFill>
                  <a:srgbClr val="526977"/>
                </a:solidFill>
              </a:defRPr>
            </a:lvl8pPr>
            <a:lvl9pPr>
              <a:defRPr sz="1500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</a:defRPr>
            </a:pPr>
            <a:r>
              <a:rPr sz="1500" b="0">
                <a:solidFill>
                  <a:srgbClr val="526977"/>
                </a:solidFill>
              </a:rPr>
              <a:t>LangChain + FAISS with local lexical hashing embeddings. Dates from 1 July 2027 escalate.</a:t>
            </a:r>
          </a:p>
        </p:txBody>
      </p:sp>
    </p:spTree>
    <p:extLst>
      <p:ext uri="{BB962C8B-B14F-4D97-AF65-F5344CB8AC3E}">
        <p14:creationId xmlns:p14="http://schemas.microsoft.com/office/powerpoint/2010/main" val="1705617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otein claim: evidence across regulations">
            <a:extLst xmlns:a="http://schemas.openxmlformats.org/drawingml/2006/main">
              <a:ext uri="{FF2B5EF4-FFF2-40B4-BE49-F238E27FC236}">
                <a16:creationId xmlns:a16="http://schemas.microsoft.com/office/drawing/2014/main" id="{B4B536AA-51E0-4A67-9916-B7A154B0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Protein claim: evidence across regulations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D58F5FCA-B78B-49F1-B086-1E42268D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07</a:t>
            </a:r>
          </a:p>
        </p:txBody>
      </p:sp>
      <p:sp>
        <p:nvSpPr>
          <p:cNvPr id="3" name="For the illustrative 54 g/day benchmark, any one b">
            <a:extLst xmlns:a="http://schemas.openxmlformats.org/drawingml/2006/main">
              <a:ext uri="{FF2B5EF4-FFF2-40B4-BE49-F238E27FC236}">
                <a16:creationId xmlns:a16="http://schemas.microsoft.com/office/drawing/2014/main" id="{AD0AC1FB-2CE4-40E0-A4EE-3850B990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For the illustrative 54 g/day benchmark, any one branch can qualify: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347C8-D0E6-4F7E-B97D-F95067374412}"/>
              </a:ext>
            </a:extLst>
          </p:cNvPr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48500"/>
                <a:gridCol w="3924300"/>
              </a:tblGrid>
              <a:tr h="654844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</a:rPr>
                        <a:t>Source-of-protein branch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</a:rPr>
                        <a:t>Required protein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745"/>
                          </a:solidFill>
                        </a:rPr>
                        <a:t>Per 100 g of solid food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745"/>
                          </a:solidFill>
                        </a:rPr>
                        <a:t>5.4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745"/>
                          </a:solidFill>
                        </a:rPr>
                        <a:t>Per 100 kcal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745"/>
                          </a:solidFill>
                        </a:rPr>
                        <a:t>2.7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745"/>
                          </a:solidFill>
                        </a:rPr>
                        <a:t>Per serving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745"/>
                          </a:solidFill>
                        </a:rPr>
                        <a:t>5.4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xample: 6 g/100 g passes the mass branch. At 3 g/">
            <a:extLst xmlns:a="http://schemas.openxmlformats.org/drawingml/2006/main">
              <a:ext uri="{FF2B5EF4-FFF2-40B4-BE49-F238E27FC236}">
                <a16:creationId xmlns:a16="http://schemas.microsoft.com/office/drawing/2014/main" id="{084C5F20-4B68-4FB7-99A8-D552B972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977"/>
                </a:solidFill>
              </a:defRPr>
            </a:defPPr>
            <a:lvl1pPr>
              <a:defRPr sz="1500" b="0">
                <a:solidFill>
                  <a:srgbClr val="526977"/>
                </a:solidFill>
              </a:defRPr>
            </a:lvl1pPr>
            <a:lvl2pPr>
              <a:defRPr sz="1500" b="0">
                <a:solidFill>
                  <a:srgbClr val="526977"/>
                </a:solidFill>
              </a:defRPr>
            </a:lvl2pPr>
            <a:lvl3pPr>
              <a:defRPr sz="1500" b="0">
                <a:solidFill>
                  <a:srgbClr val="526977"/>
                </a:solidFill>
              </a:defRPr>
            </a:lvl3pPr>
            <a:lvl4pPr>
              <a:defRPr sz="1500" b="0">
                <a:solidFill>
                  <a:srgbClr val="526977"/>
                </a:solidFill>
              </a:defRPr>
            </a:lvl4pPr>
            <a:lvl5pPr>
              <a:defRPr sz="1500" b="0">
                <a:solidFill>
                  <a:srgbClr val="526977"/>
                </a:solidFill>
              </a:defRPr>
            </a:lvl5pPr>
            <a:lvl6pPr>
              <a:defRPr sz="1500" b="0">
                <a:solidFill>
                  <a:srgbClr val="526977"/>
                </a:solidFill>
              </a:defRPr>
            </a:lvl6pPr>
            <a:lvl7pPr>
              <a:defRPr sz="1500" b="0">
                <a:solidFill>
                  <a:srgbClr val="526977"/>
                </a:solidFill>
              </a:defRPr>
            </a:lvl7pPr>
            <a:lvl8pPr>
              <a:defRPr sz="1500" b="0">
                <a:solidFill>
                  <a:srgbClr val="526977"/>
                </a:solidFill>
              </a:defRPr>
            </a:lvl8pPr>
            <a:lvl9pPr>
              <a:defRPr sz="1500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</a:defRPr>
            </a:pPr>
            <a:r>
              <a:rPr sz="1500" b="0">
                <a:solidFill>
                  <a:srgbClr val="526977"/>
                </a:solidFill>
              </a:rPr>
              <a:t>Example: 6 g/100 g passes the mass branch. At 3 g/100 g, 376 kcal/100 g and 40 g/serve, all fail.</a:t>
            </a:r>
          </a:p>
        </p:txBody>
      </p:sp>
    </p:spTree>
    <p:extLst>
      <p:ext uri="{BB962C8B-B14F-4D97-AF65-F5344CB8AC3E}">
        <p14:creationId xmlns:p14="http://schemas.microsoft.com/office/powerpoint/2010/main" val="6217426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uardrails and execution limits">
            <a:extLst xmlns:a="http://schemas.openxmlformats.org/drawingml/2006/main">
              <a:ext uri="{FF2B5EF4-FFF2-40B4-BE49-F238E27FC236}">
                <a16:creationId xmlns:a16="http://schemas.microsoft.com/office/drawing/2014/main" id="{9A341645-BE9B-4D57-9A87-B2C25C43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Guardrails and execution limits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DE255D9F-CC27-4D7D-955C-CF5DA0F0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08</a:t>
            </a:r>
          </a:p>
        </p:txBody>
      </p:sp>
      <p:sp>
        <p:nvSpPr>
          <p:cNvPr id="3" name="Before execution">
            <a:extLst xmlns:a="http://schemas.openxmlformats.org/drawingml/2006/main">
              <a:ext uri="{FF2B5EF4-FFF2-40B4-BE49-F238E27FC236}">
                <a16:creationId xmlns:a16="http://schemas.microsoft.com/office/drawing/2014/main" id="{3DCD985A-08BA-417C-88AF-B3CFEAFF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Before execution</a:t>
            </a:r>
          </a:p>
        </p:txBody>
      </p:sp>
      <p:sp>
        <p:nvSpPr>
          <p:cNvPr id="4" name="Strict types, ranges, cross-field checks and text ">
            <a:extLst xmlns:a="http://schemas.openxmlformats.org/drawingml/2006/main">
              <a:ext uri="{FF2B5EF4-FFF2-40B4-BE49-F238E27FC236}">
                <a16:creationId xmlns:a16="http://schemas.microsoft.com/office/drawing/2014/main" id="{609BF39A-33ED-40C8-A3CD-A299F150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Strict types, ranges, cross-field checks and text screening. Invalid inputs enter quarantine.</a:t>
            </a:r>
          </a:p>
        </p:txBody>
      </p:sp>
      <p:sp>
        <p:nvSpPr>
          <p:cNvPr id="5" name="Tool boundary">
            <a:extLst xmlns:a="http://schemas.openxmlformats.org/drawingml/2006/main">
              <a:ext uri="{FF2B5EF4-FFF2-40B4-BE49-F238E27FC236}">
                <a16:creationId xmlns:a16="http://schemas.microsoft.com/office/drawing/2014/main" id="{CAA50831-5E6F-495E-AEA6-752BEF1F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Tool boundary</a:t>
            </a:r>
          </a:p>
        </p:txBody>
      </p:sp>
      <p:sp>
        <p:nvSpPr>
          <p:cNvPr id="6" name="Allowlisted tools and read-only field paths. Every">
            <a:extLst xmlns:a="http://schemas.openxmlformats.org/drawingml/2006/main">
              <a:ext uri="{FF2B5EF4-FFF2-40B4-BE49-F238E27FC236}">
                <a16:creationId xmlns:a16="http://schemas.microsoft.com/office/drawing/2014/main" id="{2D5BB913-7B71-4949-A704-AFE62467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Allowlisted tools and read-only field paths. Every citation must match a stored passage.</a:t>
            </a:r>
          </a:p>
        </p:txBody>
      </p:sp>
      <p:sp>
        <p:nvSpPr>
          <p:cNvPr id="7" name="Research budget">
            <a:extLst xmlns:a="http://schemas.openxmlformats.org/drawingml/2006/main">
              <a:ext uri="{FF2B5EF4-FFF2-40B4-BE49-F238E27FC236}">
                <a16:creationId xmlns:a16="http://schemas.microsoft.com/office/drawing/2014/main" id="{4F82BD17-3CC9-4693-92A7-A9CC7E35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Research budget</a:t>
            </a:r>
          </a:p>
        </p:txBody>
      </p:sp>
      <p:sp>
        <p:nvSpPr>
          <p:cNvPr id="8" name="24 steps, 12 tool calls, 5 s/tool and 8 s/provider">
            <a:extLst xmlns:a="http://schemas.openxmlformats.org/drawingml/2006/main">
              <a:ext uri="{FF2B5EF4-FFF2-40B4-BE49-F238E27FC236}">
                <a16:creationId xmlns:a16="http://schemas.microsoft.com/office/drawing/2014/main" id="{82372F31-CA0E-40F9-AAC6-DECAB695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24 steps, 12 tool calls, 5 s/tool and 8 s/provider attempt.</a:t>
            </a:r>
          </a:p>
        </p:txBody>
      </p:sp>
      <p:sp>
        <p:nvSpPr>
          <p:cNvPr id="9" name="Recovery">
            <a:extLst xmlns:a="http://schemas.openxmlformats.org/drawingml/2006/main">
              <a:ext uri="{FF2B5EF4-FFF2-40B4-BE49-F238E27FC236}">
                <a16:creationId xmlns:a16="http://schemas.microsoft.com/office/drawing/2014/main" id="{046F524D-B09F-4C81-99E9-F126AE41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Recovery</a:t>
            </a:r>
          </a:p>
        </p:txBody>
      </p:sp>
      <p:sp>
        <p:nvSpPr>
          <p:cNvPr id="10" name="Two provider retries, circuit breaker and a 45 s t">
            <a:extLst xmlns:a="http://schemas.openxmlformats.org/drawingml/2006/main">
              <a:ext uri="{FF2B5EF4-FFF2-40B4-BE49-F238E27FC236}">
                <a16:creationId xmlns:a16="http://schemas.microsoft.com/office/drawing/2014/main" id="{139928E3-0824-416A-BCEF-0A4A335D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Two provider retries, circuit breaker and a 45 s total run budget.</a:t>
            </a:r>
          </a:p>
        </p:txBody>
      </p:sp>
    </p:spTree>
    <p:extLst>
      <p:ext uri="{BB962C8B-B14F-4D97-AF65-F5344CB8AC3E}">
        <p14:creationId xmlns:p14="http://schemas.microsoft.com/office/powerpoint/2010/main" val="17263637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Workbench and cited findings">
            <a:extLst xmlns:a="http://schemas.openxmlformats.org/drawingml/2006/main">
              <a:ext uri="{FF2B5EF4-FFF2-40B4-BE49-F238E27FC236}">
                <a16:creationId xmlns:a16="http://schemas.microsoft.com/office/drawing/2014/main" id="{016C83B5-44B8-4A05-8918-A03AA8C5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Workbench and cited findings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99A059FC-6780-4DF1-920A-EEC897C3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F3254-BF0D-4740-88BF-8A1627A30D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196482007418c"/>
          <a:stretch xmlns:a="http://schemas.openxmlformats.org/drawingml/2006/main"/>
        </p:blipFill>
        <p:spPr>
          <a:xfrm xmlns:a="http://schemas.openxmlformats.org/drawingml/2006/main">
            <a:off x="2389879" y="1476375"/>
            <a:ext cx="7412243" cy="4171950"/>
          </a:xfrm>
          <a:prstGeom xmlns:a="http://schemas.openxmlformats.org/drawingml/2006/main" prst="rect">
            <a:avLst/>
          </a:prstGeom>
        </p:spPr>
      </p:pic>
      <p:sp>
        <p:nvSpPr>
          <p:cNvPr id="4" name="The interface shows the recommendation, requiremen">
            <a:extLst xmlns:a="http://schemas.openxmlformats.org/drawingml/2006/main">
              <a:ext uri="{FF2B5EF4-FFF2-40B4-BE49-F238E27FC236}">
                <a16:creationId xmlns:a16="http://schemas.microsoft.com/office/drawing/2014/main" id="{88F2D6D8-6152-413B-9469-096839BC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977"/>
                </a:solidFill>
              </a:defRPr>
            </a:defPPr>
            <a:lvl1pPr>
              <a:defRPr sz="1500" b="0">
                <a:solidFill>
                  <a:srgbClr val="526977"/>
                </a:solidFill>
              </a:defRPr>
            </a:lvl1pPr>
            <a:lvl2pPr>
              <a:defRPr sz="1500" b="0">
                <a:solidFill>
                  <a:srgbClr val="526977"/>
                </a:solidFill>
              </a:defRPr>
            </a:lvl2pPr>
            <a:lvl3pPr>
              <a:defRPr sz="1500" b="0">
                <a:solidFill>
                  <a:srgbClr val="526977"/>
                </a:solidFill>
              </a:defRPr>
            </a:lvl3pPr>
            <a:lvl4pPr>
              <a:defRPr sz="1500" b="0">
                <a:solidFill>
                  <a:srgbClr val="526977"/>
                </a:solidFill>
              </a:defRPr>
            </a:lvl4pPr>
            <a:lvl5pPr>
              <a:defRPr sz="1500" b="0">
                <a:solidFill>
                  <a:srgbClr val="526977"/>
                </a:solidFill>
              </a:defRPr>
            </a:lvl5pPr>
            <a:lvl6pPr>
              <a:defRPr sz="1500" b="0">
                <a:solidFill>
                  <a:srgbClr val="526977"/>
                </a:solidFill>
              </a:defRPr>
            </a:lvl6pPr>
            <a:lvl7pPr>
              <a:defRPr sz="1500" b="0">
                <a:solidFill>
                  <a:srgbClr val="526977"/>
                </a:solidFill>
              </a:defRPr>
            </a:lvl7pPr>
            <a:lvl8pPr>
              <a:defRPr sz="1500" b="0">
                <a:solidFill>
                  <a:srgbClr val="526977"/>
                </a:solidFill>
              </a:defRPr>
            </a:lvl8pPr>
            <a:lvl9pPr>
              <a:defRPr sz="1500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</a:defRPr>
            </a:pPr>
            <a:r>
              <a:rPr sz="1500" b="0">
                <a:solidFill>
                  <a:srgbClr val="526977"/>
                </a:solidFill>
              </a:rPr>
              <a:t>The interface shows the recommendation, requirement findings and exact source passages.</a:t>
            </a:r>
          </a:p>
        </p:txBody>
      </p:sp>
    </p:spTree>
    <p:extLst>
      <p:ext uri="{BB962C8B-B14F-4D97-AF65-F5344CB8AC3E}">
        <p14:creationId xmlns:p14="http://schemas.microsoft.com/office/powerpoint/2010/main" val="12040419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rompt v2 matches all 32 fixed scenarios">
            <a:extLst xmlns:a="http://schemas.openxmlformats.org/drawingml/2006/main">
              <a:ext uri="{FF2B5EF4-FFF2-40B4-BE49-F238E27FC236}">
                <a16:creationId xmlns:a16="http://schemas.microsoft.com/office/drawing/2014/main" id="{7C9B4BDE-87F8-4F34-9F63-B3CCBC9A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Prompt v2 matches all 32 fixed scenarios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15161D8D-6446-4151-B62C-B041C54A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CA0E2-0161-41D1-B597-847F1756D6D5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90775"/>
                <a:gridCol w="2390775"/>
              </a:tblGrid>
              <a:tr h="51707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v2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Outcome matches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14 / 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32 / 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Groundedness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Context relevance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0.8522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Faithfulness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Hallucination rate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0.0000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0.0000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Context recall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0.7541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</a:tbl>
          </a:graphicData>
        </a:graphic>
      </p:graphicFrame>
      <p:sp>
        <p:nvSpPr>
          <p:cNvPr id="4" name="v2 follows claim dependencies. Results use a deter">
            <a:extLst xmlns:a="http://schemas.openxmlformats.org/drawingml/2006/main">
              <a:ext uri="{FF2B5EF4-FFF2-40B4-BE49-F238E27FC236}">
                <a16:creationId xmlns:a16="http://schemas.microsoft.com/office/drawing/2014/main" id="{565AF75C-5E6E-424F-A216-81952E00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977"/>
                </a:solidFill>
              </a:defRPr>
            </a:defPPr>
            <a:lvl1pPr>
              <a:defRPr sz="1500" b="0">
                <a:solidFill>
                  <a:srgbClr val="526977"/>
                </a:solidFill>
              </a:defRPr>
            </a:lvl1pPr>
            <a:lvl2pPr>
              <a:defRPr sz="1500" b="0">
                <a:solidFill>
                  <a:srgbClr val="526977"/>
                </a:solidFill>
              </a:defRPr>
            </a:lvl2pPr>
            <a:lvl3pPr>
              <a:defRPr sz="1500" b="0">
                <a:solidFill>
                  <a:srgbClr val="526977"/>
                </a:solidFill>
              </a:defRPr>
            </a:lvl3pPr>
            <a:lvl4pPr>
              <a:defRPr sz="1500" b="0">
                <a:solidFill>
                  <a:srgbClr val="526977"/>
                </a:solidFill>
              </a:defRPr>
            </a:lvl4pPr>
            <a:lvl5pPr>
              <a:defRPr sz="1500" b="0">
                <a:solidFill>
                  <a:srgbClr val="526977"/>
                </a:solidFill>
              </a:defRPr>
            </a:lvl5pPr>
            <a:lvl6pPr>
              <a:defRPr sz="1500" b="0">
                <a:solidFill>
                  <a:srgbClr val="526977"/>
                </a:solidFill>
              </a:defRPr>
            </a:lvl6pPr>
            <a:lvl7pPr>
              <a:defRPr sz="1500" b="0">
                <a:solidFill>
                  <a:srgbClr val="526977"/>
                </a:solidFill>
              </a:defRPr>
            </a:lvl7pPr>
            <a:lvl8pPr>
              <a:defRPr sz="1500" b="0">
                <a:solidFill>
                  <a:srgbClr val="526977"/>
                </a:solidFill>
              </a:defRPr>
            </a:lvl8pPr>
            <a:lvl9pPr>
              <a:defRPr sz="1500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</a:defRPr>
            </a:pPr>
            <a:r>
              <a:rPr sz="1500" b="0">
                <a:solidFill>
                  <a:srgbClr val="526977"/>
                </a:solidFill>
              </a:rPr>
              <a:t>v2 follows claim dependencies. Results use a deterministic fixture and shared policy-based metrics.</a:t>
            </a:r>
          </a:p>
        </p:txBody>
      </p:sp>
    </p:spTree>
    <p:extLst>
      <p:ext uri="{BB962C8B-B14F-4D97-AF65-F5344CB8AC3E}">
        <p14:creationId xmlns:p14="http://schemas.microsoft.com/office/powerpoint/2010/main" val="18639645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caling meets the 15-second SLO at 8 users">
            <a:extLst xmlns:a="http://schemas.openxmlformats.org/drawingml/2006/main">
              <a:ext uri="{FF2B5EF4-FFF2-40B4-BE49-F238E27FC236}">
                <a16:creationId xmlns:a16="http://schemas.microsoft.com/office/drawing/2014/main" id="{333392E3-55A2-4234-949E-58132D32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Scaling meets the 15-second SLO at 8 users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BA3B1B2E-1509-4221-BB9F-32D2E959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85762-9BAF-4128-8F3D-504FC6E66B4D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619250"/>
                <a:gridCol w="1619250"/>
                <a:gridCol w="1952625"/>
                <a:gridCol w="1952625"/>
                <a:gridCol w="21145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Workers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Runs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Runs/s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p95 (s)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SLO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0.332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6.2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Met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0.333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12.0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Met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0.321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24.0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Missed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0.963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5.5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Met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0.966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8.9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Met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46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0.993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20.0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Missed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</a:tbl>
          </a:graphicData>
        </a:graphic>
      </p:graphicFrame>
      <p:sp>
        <p:nvSpPr>
          <p:cNvPr id="4" name="At 8 users, three research workers deliver 3.01× o">
            <a:extLst xmlns:a="http://schemas.openxmlformats.org/drawingml/2006/main">
              <a:ext uri="{FF2B5EF4-FFF2-40B4-BE49-F238E27FC236}">
                <a16:creationId xmlns:a16="http://schemas.microsoft.com/office/drawing/2014/main" id="{D2851419-A0C0-4958-8266-076B2752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977"/>
                </a:solidFill>
              </a:defRPr>
            </a:defPPr>
            <a:lvl1pPr>
              <a:defRPr sz="1500" b="0">
                <a:solidFill>
                  <a:srgbClr val="526977"/>
                </a:solidFill>
              </a:defRPr>
            </a:lvl1pPr>
            <a:lvl2pPr>
              <a:defRPr sz="1500" b="0">
                <a:solidFill>
                  <a:srgbClr val="526977"/>
                </a:solidFill>
              </a:defRPr>
            </a:lvl2pPr>
            <a:lvl3pPr>
              <a:defRPr sz="1500" b="0">
                <a:solidFill>
                  <a:srgbClr val="526977"/>
                </a:solidFill>
              </a:defRPr>
            </a:lvl3pPr>
            <a:lvl4pPr>
              <a:defRPr sz="1500" b="0">
                <a:solidFill>
                  <a:srgbClr val="526977"/>
                </a:solidFill>
              </a:defRPr>
            </a:lvl4pPr>
            <a:lvl5pPr>
              <a:defRPr sz="1500" b="0">
                <a:solidFill>
                  <a:srgbClr val="526977"/>
                </a:solidFill>
              </a:defRPr>
            </a:lvl5pPr>
            <a:lvl6pPr>
              <a:defRPr sz="1500" b="0">
                <a:solidFill>
                  <a:srgbClr val="526977"/>
                </a:solidFill>
              </a:defRPr>
            </a:lvl6pPr>
            <a:lvl7pPr>
              <a:defRPr sz="1500" b="0">
                <a:solidFill>
                  <a:srgbClr val="526977"/>
                </a:solidFill>
              </a:defRPr>
            </a:lvl7pPr>
            <a:lvl8pPr>
              <a:defRPr sz="1500" b="0">
                <a:solidFill>
                  <a:srgbClr val="526977"/>
                </a:solidFill>
              </a:defRPr>
            </a:lvl8pPr>
            <a:lvl9pPr>
              <a:defRPr sz="1500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</a:defRPr>
            </a:pPr>
            <a:r>
              <a:rPr sz="1500" b="0">
                <a:solidFill>
                  <a:srgbClr val="526977"/>
                </a:solidFill>
              </a:rPr>
              <a:t>At 8 users, three research workers deliver 3.01× observed throughput. These are short local tests.</a:t>
            </a:r>
          </a:p>
        </p:txBody>
      </p:sp>
    </p:spTree>
    <p:extLst>
      <p:ext uri="{BB962C8B-B14F-4D97-AF65-F5344CB8AC3E}">
        <p14:creationId xmlns:p14="http://schemas.microsoft.com/office/powerpoint/2010/main" val="14774816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Warm caching removes repeat planner calls">
            <a:extLst xmlns:a="http://schemas.openxmlformats.org/drawingml/2006/main">
              <a:ext uri="{FF2B5EF4-FFF2-40B4-BE49-F238E27FC236}">
                <a16:creationId xmlns:a16="http://schemas.microsoft.com/office/drawing/2014/main" id="{D290414E-B2E3-44ED-A15F-14C1FD94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Warm caching removes repeat planner calls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AE057B79-DEF2-436A-92DD-E71E76CB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BDDE9-11BD-4D4F-A334-B3FF4B6AEF35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867025"/>
                <a:gridCol w="2867025"/>
              </a:tblGrid>
              <a:tr h="690563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Cache disabled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Warm cache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p95 complete run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4.421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0.047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Planner calls/run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Actual provider cost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745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th conditions use the demo stub. Paid-model cost">
            <a:extLst xmlns:a="http://schemas.openxmlformats.org/drawingml/2006/main">
              <a:ext uri="{FF2B5EF4-FFF2-40B4-BE49-F238E27FC236}">
                <a16:creationId xmlns:a16="http://schemas.microsoft.com/office/drawing/2014/main" id="{C24B74BE-48D7-463A-89CB-BA0DFF1F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977"/>
                </a:solidFill>
              </a:defRPr>
            </a:defPPr>
            <a:lvl1pPr>
              <a:defRPr sz="1500" b="0">
                <a:solidFill>
                  <a:srgbClr val="526977"/>
                </a:solidFill>
              </a:defRPr>
            </a:lvl1pPr>
            <a:lvl2pPr>
              <a:defRPr sz="1500" b="0">
                <a:solidFill>
                  <a:srgbClr val="526977"/>
                </a:solidFill>
              </a:defRPr>
            </a:lvl2pPr>
            <a:lvl3pPr>
              <a:defRPr sz="1500" b="0">
                <a:solidFill>
                  <a:srgbClr val="526977"/>
                </a:solidFill>
              </a:defRPr>
            </a:lvl3pPr>
            <a:lvl4pPr>
              <a:defRPr sz="1500" b="0">
                <a:solidFill>
                  <a:srgbClr val="526977"/>
                </a:solidFill>
              </a:defRPr>
            </a:lvl4pPr>
            <a:lvl5pPr>
              <a:defRPr sz="1500" b="0">
                <a:solidFill>
                  <a:srgbClr val="526977"/>
                </a:solidFill>
              </a:defRPr>
            </a:lvl5pPr>
            <a:lvl6pPr>
              <a:defRPr sz="1500" b="0">
                <a:solidFill>
                  <a:srgbClr val="526977"/>
                </a:solidFill>
              </a:defRPr>
            </a:lvl6pPr>
            <a:lvl7pPr>
              <a:defRPr sz="1500" b="0">
                <a:solidFill>
                  <a:srgbClr val="526977"/>
                </a:solidFill>
              </a:defRPr>
            </a:lvl7pPr>
            <a:lvl8pPr>
              <a:defRPr sz="1500" b="0">
                <a:solidFill>
                  <a:srgbClr val="526977"/>
                </a:solidFill>
              </a:defRPr>
            </a:lvl8pPr>
            <a:lvl9pPr>
              <a:defRPr sz="1500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</a:defRPr>
            </a:pPr>
            <a:r>
              <a:rPr sz="1500" b="0">
                <a:solidFill>
                  <a:srgbClr val="526977"/>
                </a:solidFill>
              </a:rPr>
              <a:t>Both conditions use the demo stub. Paid-model cost savings have not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12498109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perations and observability">
            <a:extLst xmlns:a="http://schemas.openxmlformats.org/drawingml/2006/main">
              <a:ext uri="{FF2B5EF4-FFF2-40B4-BE49-F238E27FC236}">
                <a16:creationId xmlns:a16="http://schemas.microsoft.com/office/drawing/2014/main" id="{D00F23DE-F36E-43A2-A0FF-D0640B75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Operations and observability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B1E14F2B-0AA9-44A6-B96F-37DB5B33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68A65-EB3F-4A7F-9255-0D6C416CF6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eb0598c5d4971"/>
          <a:stretch xmlns:a="http://schemas.openxmlformats.org/drawingml/2006/main"/>
        </p:blipFill>
        <p:spPr>
          <a:xfrm xmlns:a="http://schemas.openxmlformats.org/drawingml/2006/main">
            <a:off x="609600" y="1487029"/>
            <a:ext cx="7239000" cy="4074441"/>
          </a:xfrm>
          <a:prstGeom xmlns:a="http://schemas.openxmlformats.org/drawingml/2006/main" prst="rect">
            <a:avLst/>
          </a:prstGeom>
        </p:spPr>
      </p:pic>
      <p:sp>
        <p:nvSpPr>
          <p:cNvPr id="4" name="Prometheus&#10;Service metrics&#10;&#10;Grafana&#10;16 dashboard p">
            <a:extLst xmlns:a="http://schemas.openxmlformats.org/drawingml/2006/main">
              <a:ext uri="{FF2B5EF4-FFF2-40B4-BE49-F238E27FC236}">
                <a16:creationId xmlns:a16="http://schemas.microsoft.com/office/drawing/2014/main" id="{885D0688-8DA4-4291-98FC-EE6DBD76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3333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Prometheus</a:t>
            </a:r>
          </a:p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Service metrics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Grafana</a:t>
            </a:r>
          </a:p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16 dashboard panels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Jaeger</a:t>
            </a:r>
          </a:p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Connected service traces</a:t>
            </a:r>
          </a:p>
        </p:txBody>
      </p:sp>
      <p:sp>
        <p:nvSpPr>
          <p:cNvPr id="5" name="Seven long-running Compose services, plus one init">
            <a:extLst xmlns:a="http://schemas.openxmlformats.org/drawingml/2006/main">
              <a:ext uri="{FF2B5EF4-FFF2-40B4-BE49-F238E27FC236}">
                <a16:creationId xmlns:a16="http://schemas.microsoft.com/office/drawing/2014/main" id="{8D50DD08-11BA-46AE-B60A-9C645B33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977"/>
                </a:solidFill>
              </a:defRPr>
            </a:defPPr>
            <a:lvl1pPr>
              <a:defRPr sz="1500" b="0">
                <a:solidFill>
                  <a:srgbClr val="526977"/>
                </a:solidFill>
              </a:defRPr>
            </a:lvl1pPr>
            <a:lvl2pPr>
              <a:defRPr sz="1500" b="0">
                <a:solidFill>
                  <a:srgbClr val="526977"/>
                </a:solidFill>
              </a:defRPr>
            </a:lvl2pPr>
            <a:lvl3pPr>
              <a:defRPr sz="1500" b="0">
                <a:solidFill>
                  <a:srgbClr val="526977"/>
                </a:solidFill>
              </a:defRPr>
            </a:lvl3pPr>
            <a:lvl4pPr>
              <a:defRPr sz="1500" b="0">
                <a:solidFill>
                  <a:srgbClr val="526977"/>
                </a:solidFill>
              </a:defRPr>
            </a:lvl4pPr>
            <a:lvl5pPr>
              <a:defRPr sz="1500" b="0">
                <a:solidFill>
                  <a:srgbClr val="526977"/>
                </a:solidFill>
              </a:defRPr>
            </a:lvl5pPr>
            <a:lvl6pPr>
              <a:defRPr sz="1500" b="0">
                <a:solidFill>
                  <a:srgbClr val="526977"/>
                </a:solidFill>
              </a:defRPr>
            </a:lvl6pPr>
            <a:lvl7pPr>
              <a:defRPr sz="1500" b="0">
                <a:solidFill>
                  <a:srgbClr val="526977"/>
                </a:solidFill>
              </a:defRPr>
            </a:lvl7pPr>
            <a:lvl8pPr>
              <a:defRPr sz="1500" b="0">
                <a:solidFill>
                  <a:srgbClr val="526977"/>
                </a:solidFill>
              </a:defRPr>
            </a:lvl8pPr>
            <a:lvl9pPr>
              <a:defRPr sz="1500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</a:defRPr>
            </a:pPr>
            <a:r>
              <a:rPr sz="1500" b="0">
                <a:solidFill>
                  <a:srgbClr val="526977"/>
                </a:solidFill>
              </a:rPr>
              <a:t>Seven long-running Compose services, plus one initialiser. Research workers scale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11615087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s and failure handling">
            <a:extLst xmlns:a="http://schemas.openxmlformats.org/drawingml/2006/main">
              <a:ext uri="{FF2B5EF4-FFF2-40B4-BE49-F238E27FC236}">
                <a16:creationId xmlns:a16="http://schemas.microsoft.com/office/drawing/2014/main" id="{24D3F397-CFCB-4852-B71B-10D51201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Tests and failure handling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BBBFBFAA-26B9-4576-A1C6-A7DB211B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31B34-A7D6-4983-925B-26504FBAAA7A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067550"/>
              </a:tblGrid>
              <a:tr h="5794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</a:rPr>
                        <a:t>Observed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745"/>
                          </a:solidFill>
                        </a:rPr>
                        <a:t>Automated tests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745"/>
                          </a:solidFill>
                        </a:rPr>
                        <a:t>21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745"/>
                          </a:solidFill>
                        </a:rPr>
                        <a:t>Browser acceptance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745"/>
                          </a:solidFill>
                        </a:rPr>
                        <a:t>Submit, poll, citations, feedback and mobile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745"/>
                          </a:solidFill>
                        </a:rPr>
                        <a:t>Tampered candidate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745"/>
                          </a:solidFill>
                        </a:rPr>
                        <a:t>Verifier rejected it and repair succeeded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745"/>
                          </a:solidFill>
                        </a:rPr>
                        <a:t>Provider outage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745"/>
                          </a:solidFill>
                        </a:rPr>
                        <a:t>Circuit opened and the run escalated safely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745"/>
                          </a:solidFill>
                        </a:rPr>
                        <a:t>Malformed or injected input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745"/>
                          </a:solidFill>
                        </a:rPr>
                        <a:t>422 + quarantine, with no agent job created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ctual incidents: registry pull retry recovered, a">
            <a:extLst xmlns:a="http://schemas.openxmlformats.org/drawingml/2006/main">
              <a:ext uri="{FF2B5EF4-FFF2-40B4-BE49-F238E27FC236}">
                <a16:creationId xmlns:a16="http://schemas.microsoft.com/office/drawing/2014/main" id="{C71466BB-5C41-438B-8CA4-2BAE8BDE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977"/>
                </a:solidFill>
              </a:defRPr>
            </a:defPPr>
            <a:lvl1pPr>
              <a:defRPr sz="1500" b="0">
                <a:solidFill>
                  <a:srgbClr val="526977"/>
                </a:solidFill>
              </a:defRPr>
            </a:lvl1pPr>
            <a:lvl2pPr>
              <a:defRPr sz="1500" b="0">
                <a:solidFill>
                  <a:srgbClr val="526977"/>
                </a:solidFill>
              </a:defRPr>
            </a:lvl2pPr>
            <a:lvl3pPr>
              <a:defRPr sz="1500" b="0">
                <a:solidFill>
                  <a:srgbClr val="526977"/>
                </a:solidFill>
              </a:defRPr>
            </a:lvl3pPr>
            <a:lvl4pPr>
              <a:defRPr sz="1500" b="0">
                <a:solidFill>
                  <a:srgbClr val="526977"/>
                </a:solidFill>
              </a:defRPr>
            </a:lvl4pPr>
            <a:lvl5pPr>
              <a:defRPr sz="1500" b="0">
                <a:solidFill>
                  <a:srgbClr val="526977"/>
                </a:solidFill>
              </a:defRPr>
            </a:lvl5pPr>
            <a:lvl6pPr>
              <a:defRPr sz="1500" b="0">
                <a:solidFill>
                  <a:srgbClr val="526977"/>
                </a:solidFill>
              </a:defRPr>
            </a:lvl6pPr>
            <a:lvl7pPr>
              <a:defRPr sz="1500" b="0">
                <a:solidFill>
                  <a:srgbClr val="526977"/>
                </a:solidFill>
              </a:defRPr>
            </a:lvl7pPr>
            <a:lvl8pPr>
              <a:defRPr sz="1500" b="0">
                <a:solidFill>
                  <a:srgbClr val="526977"/>
                </a:solidFill>
              </a:defRPr>
            </a:lvl8pPr>
            <a:lvl9pPr>
              <a:defRPr sz="1500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</a:defRPr>
            </a:pPr>
            <a:r>
              <a:rPr sz="1500" b="0">
                <a:solidFill>
                  <a:srgbClr val="526977"/>
                </a:solidFill>
              </a:rPr>
              <a:t>Actual incidents: registry pull retry recovered, and installed Edge resolved a missing test browser.</a:t>
            </a:r>
          </a:p>
        </p:txBody>
      </p:sp>
    </p:spTree>
    <p:extLst>
      <p:ext uri="{BB962C8B-B14F-4D97-AF65-F5344CB8AC3E}">
        <p14:creationId xmlns:p14="http://schemas.microsoft.com/office/powerpoint/2010/main" val="10621758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pository organisation">
            <a:extLst xmlns:a="http://schemas.openxmlformats.org/drawingml/2006/main">
              <a:ext uri="{FF2B5EF4-FFF2-40B4-BE49-F238E27FC236}">
                <a16:creationId xmlns:a16="http://schemas.microsoft.com/office/drawing/2014/main" id="{124846B0-1C60-482D-BA6D-F745F8F7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Repository organisation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0CE4D178-16C8-407F-A04A-01749E5E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C920C-8BEE-4949-80DF-67C2C8BAF454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60198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Path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T w="9525">
                      <a:solidFill>
                        <a:srgbClr val="D6E2E7"/>
                      </a:solidFill>
                      <a:prstDash val="solid"/>
                    </a:lnT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142D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labelguard/ and web/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Service, agents, policies and browser client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data/ and prompts/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Pinned regulations, clause map and versioned prompts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tests/, eval/ and loadtests/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Unit tests, fixed scenarios and Locust workload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infra/ and compose.yaml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Container orchestration and observability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EDF4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docs/ and output/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2E7"/>
                      </a:solidFill>
                      <a:prstDash val="solid"/>
                    </a:lnL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745"/>
                          </a:solidFill>
                        </a:rPr>
                        <a:t>Report, runbook, measured evidence and presentation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2E7"/>
                      </a:solidFill>
                      <a:prstDash val="solid"/>
                    </a:lnR>
                    <a:lnB w="9525">
                      <a:solidFill>
                        <a:srgbClr val="D6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ADME.md is the entry point. docs/DEMO.md contain">
            <a:extLst xmlns:a="http://schemas.openxmlformats.org/drawingml/2006/main">
              <a:ext uri="{FF2B5EF4-FFF2-40B4-BE49-F238E27FC236}">
                <a16:creationId xmlns:a16="http://schemas.microsoft.com/office/drawing/2014/main" id="{4E7EAE18-3730-4247-BA58-AA1AD559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977"/>
                </a:solidFill>
              </a:defRPr>
            </a:defPPr>
            <a:lvl1pPr>
              <a:defRPr sz="1500" b="0">
                <a:solidFill>
                  <a:srgbClr val="526977"/>
                </a:solidFill>
              </a:defRPr>
            </a:lvl1pPr>
            <a:lvl2pPr>
              <a:defRPr sz="1500" b="0">
                <a:solidFill>
                  <a:srgbClr val="526977"/>
                </a:solidFill>
              </a:defRPr>
            </a:lvl2pPr>
            <a:lvl3pPr>
              <a:defRPr sz="1500" b="0">
                <a:solidFill>
                  <a:srgbClr val="526977"/>
                </a:solidFill>
              </a:defRPr>
            </a:lvl3pPr>
            <a:lvl4pPr>
              <a:defRPr sz="1500" b="0">
                <a:solidFill>
                  <a:srgbClr val="526977"/>
                </a:solidFill>
              </a:defRPr>
            </a:lvl4pPr>
            <a:lvl5pPr>
              <a:defRPr sz="1500" b="0">
                <a:solidFill>
                  <a:srgbClr val="526977"/>
                </a:solidFill>
              </a:defRPr>
            </a:lvl5pPr>
            <a:lvl6pPr>
              <a:defRPr sz="1500" b="0">
                <a:solidFill>
                  <a:srgbClr val="526977"/>
                </a:solidFill>
              </a:defRPr>
            </a:lvl6pPr>
            <a:lvl7pPr>
              <a:defRPr sz="1500" b="0">
                <a:solidFill>
                  <a:srgbClr val="526977"/>
                </a:solidFill>
              </a:defRPr>
            </a:lvl7pPr>
            <a:lvl8pPr>
              <a:defRPr sz="1500" b="0">
                <a:solidFill>
                  <a:srgbClr val="526977"/>
                </a:solidFill>
              </a:defRPr>
            </a:lvl8pPr>
            <a:lvl9pPr>
              <a:defRPr sz="1500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</a:defRPr>
            </a:pPr>
            <a:r>
              <a:rPr sz="1500" b="0">
                <a:solidFill>
                  <a:srgbClr val="526977"/>
                </a:solidFill>
              </a:rPr>
              <a:t>README.md is the entry point. docs/DEMO.md contains the demonstration and viva guide.</a:t>
            </a:r>
          </a:p>
        </p:txBody>
      </p:sp>
    </p:spTree>
    <p:extLst>
      <p:ext uri="{BB962C8B-B14F-4D97-AF65-F5344CB8AC3E}">
        <p14:creationId xmlns:p14="http://schemas.microsoft.com/office/powerpoint/2010/main" val="7958770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emonstration and remaining work">
            <a:extLst xmlns:a="http://schemas.openxmlformats.org/drawingml/2006/main">
              <a:ext uri="{FF2B5EF4-FFF2-40B4-BE49-F238E27FC236}">
                <a16:creationId xmlns:a16="http://schemas.microsoft.com/office/drawing/2014/main" id="{AF187544-C6A3-44FC-AD35-053EB18F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Demonstration and remaining work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C639D21F-83E1-4816-A18F-B8859445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16</a:t>
            </a:r>
          </a:p>
        </p:txBody>
      </p:sp>
      <p:sp>
        <p:nvSpPr>
          <p:cNvPr id="3" name="Run the service">
            <a:extLst xmlns:a="http://schemas.openxmlformats.org/drawingml/2006/main">
              <a:ext uri="{FF2B5EF4-FFF2-40B4-BE49-F238E27FC236}">
                <a16:creationId xmlns:a16="http://schemas.microsoft.com/office/drawing/2014/main" id="{79F3C2EA-EBA7-4BDF-B596-9D12BED5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Run the service</a:t>
            </a:r>
          </a:p>
        </p:txBody>
      </p:sp>
      <p:sp>
        <p:nvSpPr>
          <p:cNvPr id="4" name="docker compose up --build -d&#10;Open http://localhost">
            <a:extLst xmlns:a="http://schemas.openxmlformats.org/drawingml/2006/main">
              <a:ext uri="{FF2B5EF4-FFF2-40B4-BE49-F238E27FC236}">
                <a16:creationId xmlns:a16="http://schemas.microsoft.com/office/drawing/2014/main" id="{3BC099A9-45B7-4F37-9C81-F0453D29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docker compose up --build -d</a:t>
            </a:r>
          </a:p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Open http://localhost:8000</a:t>
            </a:r>
          </a:p>
        </p:txBody>
      </p:sp>
      <p:sp>
        <p:nvSpPr>
          <p:cNvPr id="5" name="Demonstrate">
            <a:extLst xmlns:a="http://schemas.openxmlformats.org/drawingml/2006/main">
              <a:ext uri="{FF2B5EF4-FFF2-40B4-BE49-F238E27FC236}">
                <a16:creationId xmlns:a16="http://schemas.microsoft.com/office/drawing/2014/main" id="{1C0407AB-0025-46D3-81D4-77C45B4C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Demonstrate</a:t>
            </a:r>
          </a:p>
        </p:txBody>
      </p:sp>
      <p:sp>
        <p:nvSpPr>
          <p:cNvPr id="6" name="Compare the protein pass/fail examples, then inspe">
            <a:extLst xmlns:a="http://schemas.openxmlformats.org/drawingml/2006/main">
              <a:ext uri="{FF2B5EF4-FFF2-40B4-BE49-F238E27FC236}">
                <a16:creationId xmlns:a16="http://schemas.microsoft.com/office/drawing/2014/main" id="{D2614251-00A2-4788-9443-B5CE1AE5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Compare the protein pass/fail examples, then inspect citations and the agent trace.</a:t>
            </a:r>
          </a:p>
        </p:txBody>
      </p:sp>
      <p:sp>
        <p:nvSpPr>
          <p:cNvPr id="7" name="Current limitation">
            <a:extLst xmlns:a="http://schemas.openxmlformats.org/drawingml/2006/main">
              <a:ext uri="{FF2B5EF4-FFF2-40B4-BE49-F238E27FC236}">
                <a16:creationId xmlns:a16="http://schemas.microsoft.com/office/drawing/2014/main" id="{70BBCD98-49A2-4044-954C-189B4559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Current limitation</a:t>
            </a:r>
          </a:p>
        </p:txBody>
      </p:sp>
      <p:sp>
        <p:nvSpPr>
          <p:cNvPr id="8" name="Demonstration uses a deterministic HTTP planner st">
            <a:extLst xmlns:a="http://schemas.openxmlformats.org/drawingml/2006/main">
              <a:ext uri="{FF2B5EF4-FFF2-40B4-BE49-F238E27FC236}">
                <a16:creationId xmlns:a16="http://schemas.microsoft.com/office/drawing/2014/main" id="{FFD1B427-FB12-4809-844F-524C5C66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Demonstration uses a deterministic HTTP planner stub. Live LLM quality is unmeasured.</a:t>
            </a:r>
          </a:p>
        </p:txBody>
      </p:sp>
      <p:sp>
        <p:nvSpPr>
          <p:cNvPr id="9" name="Next work">
            <a:extLst xmlns:a="http://schemas.openxmlformats.org/drawingml/2006/main">
              <a:ext uri="{FF2B5EF4-FFF2-40B4-BE49-F238E27FC236}">
                <a16:creationId xmlns:a16="http://schemas.microsoft.com/office/drawing/2014/main" id="{5AE2FC85-C905-46CD-8F71-EA441236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Next work</a:t>
            </a:r>
          </a:p>
        </p:txBody>
      </p:sp>
      <p:sp>
        <p:nvSpPr>
          <p:cNvPr id="10" name="Validate a real provider, expand expert-reviewed r">
            <a:extLst xmlns:a="http://schemas.openxmlformats.org/drawingml/2006/main">
              <a:ext uri="{FF2B5EF4-FFF2-40B4-BE49-F238E27FC236}">
                <a16:creationId xmlns:a16="http://schemas.microsoft.com/office/drawing/2014/main" id="{95D29444-2855-4A24-B47D-41A1CCDC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Validate a real provider, expand expert-reviewed rules and run longer capacity tests.</a:t>
            </a:r>
          </a:p>
        </p:txBody>
      </p:sp>
    </p:spTree>
    <p:extLst>
      <p:ext uri="{BB962C8B-B14F-4D97-AF65-F5344CB8AC3E}">
        <p14:creationId xmlns:p14="http://schemas.microsoft.com/office/powerpoint/2010/main" val="10725282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port evidence and references">
            <a:extLst xmlns:a="http://schemas.openxmlformats.org/drawingml/2006/main">
              <a:ext uri="{FF2B5EF4-FFF2-40B4-BE49-F238E27FC236}">
                <a16:creationId xmlns:a16="http://schemas.microsoft.com/office/drawing/2014/main" id="{35026AB1-6758-4F0C-982A-004E3295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3A"/>
                </a:solidFill>
              </a:defRPr>
            </a:defPPr>
            <a:lvl1pPr>
              <a:defRPr sz="3300" b="1">
                <a:solidFill>
                  <a:srgbClr val="142D3A"/>
                </a:solidFill>
              </a:defRPr>
            </a:lvl1pPr>
            <a:lvl2pPr>
              <a:defRPr sz="3300" b="1">
                <a:solidFill>
                  <a:srgbClr val="142D3A"/>
                </a:solidFill>
              </a:defRPr>
            </a:lvl2pPr>
            <a:lvl3pPr>
              <a:defRPr sz="3300" b="1">
                <a:solidFill>
                  <a:srgbClr val="142D3A"/>
                </a:solidFill>
              </a:defRPr>
            </a:lvl3pPr>
            <a:lvl4pPr>
              <a:defRPr sz="3300" b="1">
                <a:solidFill>
                  <a:srgbClr val="142D3A"/>
                </a:solidFill>
              </a:defRPr>
            </a:lvl4pPr>
            <a:lvl5pPr>
              <a:defRPr sz="3300" b="1">
                <a:solidFill>
                  <a:srgbClr val="142D3A"/>
                </a:solidFill>
              </a:defRPr>
            </a:lvl5pPr>
            <a:lvl6pPr>
              <a:defRPr sz="3300" b="1">
                <a:solidFill>
                  <a:srgbClr val="142D3A"/>
                </a:solidFill>
              </a:defRPr>
            </a:lvl6pPr>
            <a:lvl7pPr>
              <a:defRPr sz="3300" b="1">
                <a:solidFill>
                  <a:srgbClr val="142D3A"/>
                </a:solidFill>
              </a:defRPr>
            </a:lvl7pPr>
            <a:lvl8pPr>
              <a:defRPr sz="3300" b="1">
                <a:solidFill>
                  <a:srgbClr val="142D3A"/>
                </a:solidFill>
              </a:defRPr>
            </a:lvl8pPr>
            <a:lvl9pPr>
              <a:defRPr sz="3300" b="1">
                <a:solidFill>
                  <a:srgbClr val="14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3A"/>
                </a:solidFill>
              </a:defRPr>
            </a:pPr>
            <a:r>
              <a:rPr sz="3300" b="1">
                <a:solidFill>
                  <a:srgbClr val="142D3A"/>
                </a:solidFill>
              </a:rPr>
              <a:t>Report evidence and references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1755817B-17DC-4104-81AE-8CEFDCA6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977"/>
                </a:solidFill>
              </a:defRPr>
            </a:defPPr>
            <a:lvl1pPr>
              <a:defRPr sz="1275" b="0">
                <a:solidFill>
                  <a:srgbClr val="526977"/>
                </a:solidFill>
              </a:defRPr>
            </a:lvl1pPr>
            <a:lvl2pPr>
              <a:defRPr sz="1275" b="0">
                <a:solidFill>
                  <a:srgbClr val="526977"/>
                </a:solidFill>
              </a:defRPr>
            </a:lvl2pPr>
            <a:lvl3pPr>
              <a:defRPr sz="1275" b="0">
                <a:solidFill>
                  <a:srgbClr val="526977"/>
                </a:solidFill>
              </a:defRPr>
            </a:lvl3pPr>
            <a:lvl4pPr>
              <a:defRPr sz="1275" b="0">
                <a:solidFill>
                  <a:srgbClr val="526977"/>
                </a:solidFill>
              </a:defRPr>
            </a:lvl4pPr>
            <a:lvl5pPr>
              <a:defRPr sz="1275" b="0">
                <a:solidFill>
                  <a:srgbClr val="526977"/>
                </a:solidFill>
              </a:defRPr>
            </a:lvl5pPr>
            <a:lvl6pPr>
              <a:defRPr sz="1275" b="0">
                <a:solidFill>
                  <a:srgbClr val="526977"/>
                </a:solidFill>
              </a:defRPr>
            </a:lvl6pPr>
            <a:lvl7pPr>
              <a:defRPr sz="1275" b="0">
                <a:solidFill>
                  <a:srgbClr val="526977"/>
                </a:solidFill>
              </a:defRPr>
            </a:lvl7pPr>
            <a:lvl8pPr>
              <a:defRPr sz="1275" b="0">
                <a:solidFill>
                  <a:srgbClr val="526977"/>
                </a:solidFill>
              </a:defRPr>
            </a:lvl8pPr>
            <a:lvl9pPr>
              <a:defRPr sz="1275" b="0">
                <a:solidFill>
                  <a:srgbClr val="5269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977"/>
                </a:solidFill>
              </a:defRPr>
            </a:pPr>
            <a:r>
              <a:rPr sz="1275" b="0">
                <a:solidFill>
                  <a:srgbClr val="526977"/>
                </a:solidFill>
              </a:rPr>
              <a:t>17</a:t>
            </a:r>
          </a:p>
        </p:txBody>
      </p:sp>
      <p:sp>
        <p:nvSpPr>
          <p:cNvPr id="3" name="Regulations">
            <a:extLst xmlns:a="http://schemas.openxmlformats.org/drawingml/2006/main">
              <a:ext uri="{FF2B5EF4-FFF2-40B4-BE49-F238E27FC236}">
                <a16:creationId xmlns:a16="http://schemas.microsoft.com/office/drawing/2014/main" id="{0143081B-E68F-4C6C-8B96-EC3B04C8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Regulations</a:t>
            </a:r>
          </a:p>
        </p:txBody>
      </p:sp>
      <p:sp>
        <p:nvSpPr>
          <p:cNvPr id="4" name="FSSAI Labelling and Display 2020, version VIII&#10;FSS">
            <a:extLst xmlns:a="http://schemas.openxmlformats.org/drawingml/2006/main">
              <a:ext uri="{FF2B5EF4-FFF2-40B4-BE49-F238E27FC236}">
                <a16:creationId xmlns:a16="http://schemas.microsoft.com/office/drawing/2014/main" id="{C0D01BAA-287E-4837-9144-ED66159D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FSSAI Labelling and Display 2020, version VIII</a:t>
            </a:r>
          </a:p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FSSAI Advertising and Claims 2018, version IV</a:t>
            </a:r>
          </a:p>
        </p:txBody>
      </p:sp>
      <p:sp>
        <p:nvSpPr>
          <p:cNvPr id="5" name="Effective-date boundary">
            <a:extLst xmlns:a="http://schemas.openxmlformats.org/drawingml/2006/main">
              <a:ext uri="{FF2B5EF4-FFF2-40B4-BE49-F238E27FC236}">
                <a16:creationId xmlns:a16="http://schemas.microsoft.com/office/drawing/2014/main" id="{C917A3C3-6713-48DE-9154-D2769744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Effective-date boundary</a:t>
            </a:r>
          </a:p>
        </p:txBody>
      </p:sp>
      <p:sp>
        <p:nvSpPr>
          <p:cNvPr id="6" name="Labelling and Display First Amendment 2026&#10;Notifie">
            <a:extLst xmlns:a="http://schemas.openxmlformats.org/drawingml/2006/main">
              <a:ext uri="{FF2B5EF4-FFF2-40B4-BE49-F238E27FC236}">
                <a16:creationId xmlns:a16="http://schemas.microsoft.com/office/drawing/2014/main" id="{0D8F2847-190A-41BF-952A-EC1450A8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Labelling and Display First Amendment 2026</a:t>
            </a:r>
          </a:p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Notified 24 March 2026, commences 1 July 2027</a:t>
            </a:r>
          </a:p>
        </p:txBody>
      </p:sp>
      <p:sp>
        <p:nvSpPr>
          <p:cNvPr id="7" name="Measured evidence">
            <a:extLst xmlns:a="http://schemas.openxmlformats.org/drawingml/2006/main">
              <a:ext uri="{FF2B5EF4-FFF2-40B4-BE49-F238E27FC236}">
                <a16:creationId xmlns:a16="http://schemas.microsoft.com/office/drawing/2014/main" id="{F43F2214-5F0E-47D7-AEFD-55698118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Measured evidence</a:t>
            </a:r>
          </a:p>
        </p:txBody>
      </p:sp>
      <p:sp>
        <p:nvSpPr>
          <p:cNvPr id="8" name="Fixed evaluation results, raw Locust CSVs, browser">
            <a:extLst xmlns:a="http://schemas.openxmlformats.org/drawingml/2006/main">
              <a:ext uri="{FF2B5EF4-FFF2-40B4-BE49-F238E27FC236}">
                <a16:creationId xmlns:a16="http://schemas.microsoft.com/office/drawing/2014/main" id="{C6443F35-8E12-4A3B-9427-C4554CC5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Fixed evaluation results, raw Locust CSVs, browser screenshots and connected traces.</a:t>
            </a:r>
          </a:p>
        </p:txBody>
      </p:sp>
      <p:sp>
        <p:nvSpPr>
          <p:cNvPr id="9" name="Companion documents">
            <a:extLst xmlns:a="http://schemas.openxmlformats.org/drawingml/2006/main">
              <a:ext uri="{FF2B5EF4-FFF2-40B4-BE49-F238E27FC236}">
                <a16:creationId xmlns:a16="http://schemas.microsoft.com/office/drawing/2014/main" id="{8497312A-7682-4396-A4BF-6247A1A6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3"/>
                </a:solidFill>
              </a:defRPr>
            </a:defPPr>
            <a:lvl1pPr>
              <a:defRPr sz="2025" b="1">
                <a:solidFill>
                  <a:srgbClr val="087E83"/>
                </a:solidFill>
              </a:defRPr>
            </a:lvl1pPr>
            <a:lvl2pPr>
              <a:defRPr sz="2025" b="1">
                <a:solidFill>
                  <a:srgbClr val="087E83"/>
                </a:solidFill>
              </a:defRPr>
            </a:lvl2pPr>
            <a:lvl3pPr>
              <a:defRPr sz="2025" b="1">
                <a:solidFill>
                  <a:srgbClr val="087E83"/>
                </a:solidFill>
              </a:defRPr>
            </a:lvl3pPr>
            <a:lvl4pPr>
              <a:defRPr sz="2025" b="1">
                <a:solidFill>
                  <a:srgbClr val="087E83"/>
                </a:solidFill>
              </a:defRPr>
            </a:lvl4pPr>
            <a:lvl5pPr>
              <a:defRPr sz="2025" b="1">
                <a:solidFill>
                  <a:srgbClr val="087E83"/>
                </a:solidFill>
              </a:defRPr>
            </a:lvl5pPr>
            <a:lvl6pPr>
              <a:defRPr sz="2025" b="1">
                <a:solidFill>
                  <a:srgbClr val="087E83"/>
                </a:solidFill>
              </a:defRPr>
            </a:lvl6pPr>
            <a:lvl7pPr>
              <a:defRPr sz="2025" b="1">
                <a:solidFill>
                  <a:srgbClr val="087E83"/>
                </a:solidFill>
              </a:defRPr>
            </a:lvl7pPr>
            <a:lvl8pPr>
              <a:defRPr sz="2025" b="1">
                <a:solidFill>
                  <a:srgbClr val="087E83"/>
                </a:solidFill>
              </a:defRPr>
            </a:lvl8pPr>
            <a:lvl9pPr>
              <a:defRPr sz="2025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3"/>
                </a:solidFill>
              </a:defRPr>
            </a:pPr>
            <a:r>
              <a:rPr sz="2025" b="1">
                <a:solidFill>
                  <a:srgbClr val="087E83"/>
                </a:solidFill>
              </a:rPr>
              <a:t>Companion documents</a:t>
            </a:r>
          </a:p>
        </p:txBody>
      </p:sp>
      <p:sp>
        <p:nvSpPr>
          <p:cNvPr id="10" name="Final PDF report, requirement matrix, runbook, inc">
            <a:extLst xmlns:a="http://schemas.openxmlformats.org/drawingml/2006/main">
              <a:ext uri="{FF2B5EF4-FFF2-40B4-BE49-F238E27FC236}">
                <a16:creationId xmlns:a16="http://schemas.microsoft.com/office/drawing/2014/main" id="{3D7CE1C5-E8B2-4387-859D-0FF3BAFD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745"/>
                </a:solidFill>
              </a:defRPr>
            </a:defPPr>
            <a:lvl1pPr>
              <a:defRPr sz="2025" b="0">
                <a:solidFill>
                  <a:srgbClr val="173745"/>
                </a:solidFill>
              </a:defRPr>
            </a:lvl1pPr>
            <a:lvl2pPr>
              <a:defRPr sz="2025" b="0">
                <a:solidFill>
                  <a:srgbClr val="173745"/>
                </a:solidFill>
              </a:defRPr>
            </a:lvl2pPr>
            <a:lvl3pPr>
              <a:defRPr sz="2025" b="0">
                <a:solidFill>
                  <a:srgbClr val="173745"/>
                </a:solidFill>
              </a:defRPr>
            </a:lvl3pPr>
            <a:lvl4pPr>
              <a:defRPr sz="2025" b="0">
                <a:solidFill>
                  <a:srgbClr val="173745"/>
                </a:solidFill>
              </a:defRPr>
            </a:lvl4pPr>
            <a:lvl5pPr>
              <a:defRPr sz="2025" b="0">
                <a:solidFill>
                  <a:srgbClr val="173745"/>
                </a:solidFill>
              </a:defRPr>
            </a:lvl5pPr>
            <a:lvl6pPr>
              <a:defRPr sz="2025" b="0">
                <a:solidFill>
                  <a:srgbClr val="173745"/>
                </a:solidFill>
              </a:defRPr>
            </a:lvl6pPr>
            <a:lvl7pPr>
              <a:defRPr sz="2025" b="0">
                <a:solidFill>
                  <a:srgbClr val="173745"/>
                </a:solidFill>
              </a:defRPr>
            </a:lvl7pPr>
            <a:lvl8pPr>
              <a:defRPr sz="2025" b="0">
                <a:solidFill>
                  <a:srgbClr val="173745"/>
                </a:solidFill>
              </a:defRPr>
            </a:lvl8pPr>
            <a:lvl9pPr>
              <a:defRPr sz="2025" b="0">
                <a:solidFill>
                  <a:srgbClr val="1737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745"/>
                </a:solidFill>
              </a:defRPr>
            </a:pPr>
            <a:r>
              <a:rPr sz="2025" b="0">
                <a:solidFill>
                  <a:srgbClr val="173745"/>
                </a:solidFill>
              </a:rPr>
              <a:t>Final PDF report, requirement matrix, runbook, incident log and viva guide.</a:t>
            </a:r>
          </a:p>
        </p:txBody>
      </p:sp>
    </p:spTree>
    <p:extLst>
      <p:ext uri="{BB962C8B-B14F-4D97-AF65-F5344CB8AC3E}">
        <p14:creationId xmlns:p14="http://schemas.microsoft.com/office/powerpoint/2010/main" val="192828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2026-10-28T10:50:20.2510000Z</dcterms:created>
  <dcterms:modified xsi:type="dcterms:W3CDTF">2026-10-28T10:50:20.2510000Z</dcterms:modified>
</coreProperties>
</file>